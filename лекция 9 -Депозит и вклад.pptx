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158B49E-4705-466E-9D0D-90B5926FB6D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7AA9BE1-8E8C-4BD4-BAFB-497C36AB7085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045718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B49E-4705-466E-9D0D-90B5926FB6D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BE1-8E8C-4BD4-BAFB-497C36AB7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191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58B49E-4705-466E-9D0D-90B5926FB6D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AA9BE1-8E8C-4BD4-BAFB-497C36AB7085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4165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B49E-4705-466E-9D0D-90B5926FB6D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BE1-8E8C-4BD4-BAFB-497C36AB7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9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B49E-4705-466E-9D0D-90B5926FB6D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BE1-8E8C-4BD4-BAFB-497C36AB7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B49E-4705-466E-9D0D-90B5926FB6D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BE1-8E8C-4BD4-BAFB-497C36AB7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830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B49E-4705-466E-9D0D-90B5926FB6D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BE1-8E8C-4BD4-BAFB-497C36AB7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590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58B49E-4705-466E-9D0D-90B5926FB6D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AA9BE1-8E8C-4BD4-BAFB-497C36AB7085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85687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58B49E-4705-466E-9D0D-90B5926FB6D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AA9BE1-8E8C-4BD4-BAFB-497C36AB7085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71381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B49E-4705-466E-9D0D-90B5926FB6D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BE1-8E8C-4BD4-BAFB-497C36AB7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06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B49E-4705-466E-9D0D-90B5926FB6D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A9BE1-8E8C-4BD4-BAFB-497C36AB70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90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158B49E-4705-466E-9D0D-90B5926FB6D9}" type="datetimeFigureOut">
              <a:rPr lang="ru-RU" smtClean="0"/>
              <a:t>29.10.2025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7AA9BE1-8E8C-4BD4-BAFB-497C36AB7085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66175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nsultant.ru/document/cons_doc_LAW_9027/c4ec6fea4c2bd839c31960dcf2f26debdc6273dc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81100" y="2044700"/>
            <a:ext cx="9842500" cy="2248380"/>
          </a:xfrm>
        </p:spPr>
        <p:txBody>
          <a:bodyPr/>
          <a:lstStyle/>
          <a:p>
            <a:r>
              <a:rPr lang="ru-RU" dirty="0" smtClean="0"/>
              <a:t> Депозит и Вклады </a:t>
            </a:r>
            <a:r>
              <a:rPr lang="ru-RU" dirty="0" smtClean="0"/>
              <a:t>физических лиц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422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1200" y="0"/>
            <a:ext cx="11480800" cy="800100"/>
          </a:xfrm>
        </p:spPr>
        <p:txBody>
          <a:bodyPr/>
          <a:lstStyle/>
          <a:p>
            <a:r>
              <a:rPr lang="ru-RU" dirty="0" smtClean="0"/>
              <a:t>Сущность вклада. Депозит и вклад.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1200" y="5626100"/>
            <a:ext cx="11480800" cy="1231900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rgbClr val="7030A0"/>
                </a:solidFill>
              </a:rPr>
              <a:t>Вклады открывают только в банках. Все остальные финансовые организации, например кредитные потребительские кооперативы или </a:t>
            </a:r>
            <a:r>
              <a:rPr lang="ru-RU" dirty="0" err="1">
                <a:solidFill>
                  <a:srgbClr val="7030A0"/>
                </a:solidFill>
              </a:rPr>
              <a:t>микрофинансовые</a:t>
            </a:r>
            <a:r>
              <a:rPr lang="ru-RU" dirty="0">
                <a:solidFill>
                  <a:srgbClr val="7030A0"/>
                </a:solidFill>
              </a:rPr>
              <a:t> компании, могут предлагать вам вложить в них деньги и получать за это доход. Но называть такие инвестиции вкладами они не вправе</a:t>
            </a:r>
            <a:r>
              <a:rPr lang="ru-RU" dirty="0" smtClean="0">
                <a:solidFill>
                  <a:srgbClr val="7030A0"/>
                </a:solidFill>
              </a:rPr>
              <a:t>.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11200" y="939800"/>
            <a:ext cx="113919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YS Text"/>
              </a:rPr>
              <a:t>Депозит</a:t>
            </a:r>
            <a:r>
              <a:rPr lang="ru-RU" sz="2800" dirty="0">
                <a:latin typeface="YS Text"/>
              </a:rPr>
              <a:t> — это передача банку или другой финансовой организации активов для их сохранения или приумножения. Активами могут выступать не только деньги, но и ценные бумаги, драгоценные металлы, документы и другие ценности</a:t>
            </a:r>
            <a:r>
              <a:rPr lang="ru-RU" sz="2800" dirty="0" smtClean="0">
                <a:latin typeface="YS Text"/>
              </a:rPr>
              <a:t>.</a:t>
            </a:r>
          </a:p>
          <a:p>
            <a:endParaRPr lang="ru-RU" sz="2800" dirty="0" smtClean="0">
              <a:latin typeface="YS Text"/>
            </a:endParaRPr>
          </a:p>
          <a:p>
            <a:r>
              <a:rPr lang="ru-RU" sz="2800" dirty="0">
                <a:latin typeface="YS Text"/>
              </a:rPr>
              <a:t>Чаще всего понятие </a:t>
            </a:r>
            <a:r>
              <a:rPr lang="ru-RU" sz="2800" b="1" dirty="0">
                <a:latin typeface="YS Text"/>
              </a:rPr>
              <a:t>«банковский вклад» (депозит) </a:t>
            </a:r>
            <a:r>
              <a:rPr lang="ru-RU" sz="2800" dirty="0">
                <a:latin typeface="YS Text"/>
              </a:rPr>
              <a:t>подразумевает передачу денежных средств банку под процент с условиями возврата, определенными в </a:t>
            </a:r>
            <a:r>
              <a:rPr lang="ru-RU" sz="2800" dirty="0" smtClean="0">
                <a:latin typeface="YS Text"/>
              </a:rPr>
              <a:t>договоре.</a:t>
            </a:r>
          </a:p>
          <a:p>
            <a:r>
              <a:rPr lang="ru-RU" sz="2400" b="1" dirty="0"/>
              <a:t>Правила договора банковского вклада определяются </a:t>
            </a:r>
            <a:r>
              <a:rPr lang="ru-RU" sz="2400" b="1" dirty="0">
                <a:solidFill>
                  <a:srgbClr val="1070A7"/>
                </a:solidFill>
                <a:hlinkClick r:id="rId2"/>
              </a:rPr>
              <a:t>главой 44 Гражданского кодекса Российской Федерации</a:t>
            </a:r>
            <a:endParaRPr lang="ru-RU" sz="2400" b="1" dirty="0"/>
          </a:p>
          <a:p>
            <a:r>
              <a:rPr lang="ru-RU" sz="2400" dirty="0"/>
              <a:t>Договор может быть подписан как на бумаге, так и в </a:t>
            </a:r>
            <a:r>
              <a:rPr lang="ru-RU" sz="2400" dirty="0" smtClean="0"/>
              <a:t>электронном виде.</a:t>
            </a:r>
            <a:endParaRPr lang="ru-RU" sz="2400" dirty="0"/>
          </a:p>
          <a:p>
            <a:endParaRPr lang="ru-RU" sz="2800" dirty="0"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49646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1200" y="0"/>
            <a:ext cx="11480800" cy="736600"/>
          </a:xfrm>
        </p:spPr>
        <p:txBody>
          <a:bodyPr>
            <a:normAutofit/>
          </a:bodyPr>
          <a:lstStyle/>
          <a:p>
            <a:r>
              <a:rPr lang="ru-RU" dirty="0"/>
              <a:t>Какие бывают депозиты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1200" y="889000"/>
            <a:ext cx="11480800" cy="5969000"/>
          </a:xfrm>
        </p:spPr>
        <p:txBody>
          <a:bodyPr>
            <a:normAutofit/>
          </a:bodyPr>
          <a:lstStyle/>
          <a:p>
            <a:r>
              <a:rPr lang="ru-RU" sz="2800" b="1" dirty="0"/>
              <a:t>срочные</a:t>
            </a:r>
            <a:r>
              <a:rPr lang="ru-RU" sz="2800" dirty="0"/>
              <a:t> — в договоре оговаривается конкретный срок хранения денег или ценностей. За пользование деньгами на время срочного депозита банки выплачивают клиентам доход в виде начисленных процентов. Размер процентных ставок зависит от суммы, срока и ряда других </a:t>
            </a:r>
            <a:r>
              <a:rPr lang="ru-RU" sz="2800" dirty="0" smtClean="0"/>
              <a:t>условий;</a:t>
            </a:r>
            <a:br>
              <a:rPr lang="ru-RU" sz="2800" dirty="0" smtClean="0"/>
            </a:br>
            <a:endParaRPr lang="ru-RU" sz="2800" dirty="0" smtClean="0"/>
          </a:p>
          <a:p>
            <a:r>
              <a:rPr lang="ru-RU" sz="2800" b="1" dirty="0" smtClean="0"/>
              <a:t>до </a:t>
            </a:r>
            <a:r>
              <a:rPr lang="ru-RU" sz="2800" b="1" dirty="0"/>
              <a:t>востребования</a:t>
            </a:r>
            <a:r>
              <a:rPr lang="ru-RU" sz="2800" dirty="0"/>
              <a:t> — переданные на хранение средства могут быть отозваны клиентом в любой момент. По депозитам до востребования вкладчик имеет право без предварительного уведомления банка снимать деньги без потери в процентах, но процентная ставка по таким вкладам самая низкая на рынке, сейчас это около 0,1%.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545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1200" y="0"/>
            <a:ext cx="11480800" cy="68580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222222"/>
                </a:solidFill>
                <a:latin typeface="GraphikCy"/>
              </a:rPr>
              <a:t>с пополнением </a:t>
            </a:r>
            <a:r>
              <a:rPr lang="ru-RU" sz="2800" dirty="0">
                <a:solidFill>
                  <a:srgbClr val="222222"/>
                </a:solidFill>
                <a:latin typeface="GraphikCy"/>
              </a:rPr>
              <a:t>— допускаются дополнительные вложения на депозит в течение оговоренного срока </a:t>
            </a:r>
            <a:r>
              <a:rPr lang="ru-RU" sz="2800" dirty="0" smtClean="0">
                <a:solidFill>
                  <a:srgbClr val="222222"/>
                </a:solidFill>
                <a:latin typeface="GraphikCy"/>
              </a:rPr>
              <a:t>хранения;</a:t>
            </a:r>
            <a:endParaRPr lang="ru-RU" sz="2800" dirty="0" smtClean="0"/>
          </a:p>
          <a:p>
            <a:r>
              <a:rPr lang="ru-RU" sz="2800" b="1" dirty="0" smtClean="0">
                <a:solidFill>
                  <a:srgbClr val="222222"/>
                </a:solidFill>
                <a:latin typeface="GraphikCy"/>
              </a:rPr>
              <a:t>без </a:t>
            </a:r>
            <a:r>
              <a:rPr lang="ru-RU" sz="2800" b="1" dirty="0">
                <a:solidFill>
                  <a:srgbClr val="222222"/>
                </a:solidFill>
                <a:latin typeface="GraphikCy"/>
              </a:rPr>
              <a:t>пополнения</a:t>
            </a:r>
            <a:r>
              <a:rPr lang="ru-RU" sz="2800" dirty="0">
                <a:solidFill>
                  <a:srgbClr val="222222"/>
                </a:solidFill>
                <a:latin typeface="GraphikCy"/>
              </a:rPr>
              <a:t> — не допускаются дополнительные вложения на депозит в течение оговоренного срока </a:t>
            </a:r>
            <a:r>
              <a:rPr lang="ru-RU" sz="2800" dirty="0" smtClean="0">
                <a:solidFill>
                  <a:srgbClr val="222222"/>
                </a:solidFill>
                <a:latin typeface="GraphikCy"/>
              </a:rPr>
              <a:t>хранения;</a:t>
            </a:r>
            <a:endParaRPr lang="ru-RU" sz="2800" dirty="0" smtClean="0"/>
          </a:p>
          <a:p>
            <a:r>
              <a:rPr lang="ru-RU" sz="2800" b="1" dirty="0" smtClean="0">
                <a:solidFill>
                  <a:srgbClr val="222222"/>
                </a:solidFill>
                <a:latin typeface="GraphikCy"/>
              </a:rPr>
              <a:t>расходуемые</a:t>
            </a:r>
            <a:r>
              <a:rPr lang="ru-RU" sz="2800" b="1" dirty="0">
                <a:solidFill>
                  <a:srgbClr val="222222"/>
                </a:solidFill>
                <a:latin typeface="GraphikCy"/>
              </a:rPr>
              <a:t> </a:t>
            </a:r>
            <a:r>
              <a:rPr lang="ru-RU" sz="2800" dirty="0">
                <a:solidFill>
                  <a:srgbClr val="222222"/>
                </a:solidFill>
                <a:latin typeface="GraphikCy"/>
              </a:rPr>
              <a:t>— вкладчик вправе снимать часть денежных средств до достижения минимальной суммы вклада, определенной </a:t>
            </a:r>
            <a:r>
              <a:rPr lang="ru-RU" sz="2800" dirty="0" smtClean="0">
                <a:solidFill>
                  <a:srgbClr val="222222"/>
                </a:solidFill>
                <a:latin typeface="GraphikCy"/>
              </a:rPr>
              <a:t>договором;</a:t>
            </a:r>
            <a:endParaRPr lang="ru-RU" sz="2800" dirty="0" smtClean="0"/>
          </a:p>
          <a:p>
            <a:r>
              <a:rPr lang="ru-RU" sz="2800" b="1" dirty="0" err="1" smtClean="0">
                <a:solidFill>
                  <a:srgbClr val="222222"/>
                </a:solidFill>
                <a:latin typeface="GraphikCy"/>
              </a:rPr>
              <a:t>нерасходуемые</a:t>
            </a:r>
            <a:r>
              <a:rPr lang="ru-RU" sz="2800" b="1" dirty="0">
                <a:solidFill>
                  <a:srgbClr val="222222"/>
                </a:solidFill>
                <a:latin typeface="GraphikCy"/>
              </a:rPr>
              <a:t> </a:t>
            </a:r>
            <a:r>
              <a:rPr lang="ru-RU" sz="2800" dirty="0">
                <a:solidFill>
                  <a:srgbClr val="222222"/>
                </a:solidFill>
                <a:latin typeface="GraphikCy"/>
              </a:rPr>
              <a:t>— досрочно можно востребовать только весь вклад целиком, что сопряжено с потерей </a:t>
            </a:r>
            <a:r>
              <a:rPr lang="ru-RU" sz="2800" dirty="0" smtClean="0">
                <a:solidFill>
                  <a:srgbClr val="222222"/>
                </a:solidFill>
                <a:latin typeface="GraphikCy"/>
              </a:rPr>
              <a:t>процентов;</a:t>
            </a:r>
            <a:endParaRPr lang="ru-RU" sz="2800" dirty="0" smtClean="0"/>
          </a:p>
          <a:p>
            <a:r>
              <a:rPr lang="ru-RU" sz="2800" b="1" dirty="0" smtClean="0">
                <a:solidFill>
                  <a:srgbClr val="222222"/>
                </a:solidFill>
                <a:latin typeface="GraphikCy"/>
              </a:rPr>
              <a:t>целевые</a:t>
            </a:r>
            <a:r>
              <a:rPr lang="ru-RU" sz="2800" b="1" dirty="0">
                <a:solidFill>
                  <a:srgbClr val="222222"/>
                </a:solidFill>
                <a:latin typeface="GraphikCy"/>
              </a:rPr>
              <a:t> </a:t>
            </a:r>
            <a:r>
              <a:rPr lang="ru-RU" sz="2800" dirty="0">
                <a:solidFill>
                  <a:srgbClr val="222222"/>
                </a:solidFill>
                <a:latin typeface="GraphikCy"/>
              </a:rPr>
              <a:t>— вклады, содержащие помимо общих ключевое условие для выдачи денег. Чаще всего применяется при открытии вкладов в пользу третьего лица, например при достижении ребенком определенного возраста, окончании школы и т. п.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353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8500" y="0"/>
            <a:ext cx="11493500" cy="6858000"/>
          </a:xfrm>
        </p:spPr>
        <p:txBody>
          <a:bodyPr>
            <a:noAutofit/>
          </a:bodyPr>
          <a:lstStyle/>
          <a:p>
            <a:r>
              <a:rPr lang="ru-RU" sz="2800" b="1" dirty="0"/>
              <a:t>денежные депозиты </a:t>
            </a:r>
            <a:r>
              <a:rPr lang="ru-RU" sz="2800" dirty="0"/>
              <a:t>— передача на хранение финансовым организациям денег в национальной (рублях) или иностранной валюте. Допустимы мультивалютные вклады, на которых одновременно можно хранить и конвертировать (обменивать) внутри такого депозита денежные средства в валютах разных стран;</a:t>
            </a:r>
          </a:p>
          <a:p>
            <a:r>
              <a:rPr lang="ru-RU" sz="2800" b="1" dirty="0"/>
              <a:t>обезличенные металлические счета </a:t>
            </a:r>
            <a:r>
              <a:rPr lang="ru-RU" sz="2800" dirty="0"/>
              <a:t>— покупка и хранение сбережений в золоте, серебре, платине, палладии без физического владения ими. При открытии клиент переводит банку денежные средства, на которые приобретается металл, при закрытии происходит обратная операция — банк продает металл и выплачивает клиенту вырученные деньги. Доходность такого депозита достигается, если на момент продажи металл стоит дороже, чем на момент покупки. Дополнительно по вкладам в драгоценных металлах могут начисляться проценты. </a:t>
            </a:r>
          </a:p>
        </p:txBody>
      </p:sp>
    </p:spTree>
    <p:extLst>
      <p:ext uri="{BB962C8B-B14F-4D97-AF65-F5344CB8AC3E}">
        <p14:creationId xmlns:p14="http://schemas.microsoft.com/office/powerpoint/2010/main" val="4222559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6600" y="0"/>
            <a:ext cx="11455400" cy="6858000"/>
          </a:xfrm>
        </p:spPr>
        <p:txBody>
          <a:bodyPr>
            <a:noAutofit/>
          </a:bodyPr>
          <a:lstStyle/>
          <a:p>
            <a:r>
              <a:rPr lang="ru-RU" sz="3200" b="1" dirty="0"/>
              <a:t>металлические слитки или монеты из драгоценных металлов </a:t>
            </a:r>
            <a:r>
              <a:rPr lang="ru-RU" sz="3200" dirty="0"/>
              <a:t>— переданные на хранение в банк физические ценности в форме слитков или инвестиционных монет также могут приносить доход в виде процентов</a:t>
            </a:r>
            <a:r>
              <a:rPr lang="ru-RU" sz="3200" dirty="0" smtClean="0"/>
              <a:t>;</a:t>
            </a:r>
          </a:p>
          <a:p>
            <a:endParaRPr lang="ru-RU" sz="3200" dirty="0"/>
          </a:p>
          <a:p>
            <a:r>
              <a:rPr lang="ru-RU" sz="3200" b="1" dirty="0"/>
              <a:t>сберегательный и депозитный сертификаты </a:t>
            </a:r>
            <a:r>
              <a:rPr lang="ru-RU" sz="3200" dirty="0"/>
              <a:t>— ценная бумага, подтверждающая сумму вклада, внесенного в банк, и права вкладчика (держателя сертификата) на получение по истечении установленного срока суммы вклада и обусловленных в сертификате процентов в банке, выдавшем сертификат. </a:t>
            </a:r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Сберегательный сертификат может быть выдан только физическому лицу</a:t>
            </a:r>
            <a:r>
              <a:rPr lang="ru-RU" sz="3200" dirty="0"/>
              <a:t>, </a:t>
            </a:r>
            <a:r>
              <a:rPr lang="ru-RU" sz="3200" dirty="0">
                <a:solidFill>
                  <a:srgbClr val="7030A0"/>
                </a:solidFill>
              </a:rPr>
              <a:t>а депозитный — только лицу юридическому</a:t>
            </a:r>
            <a:r>
              <a:rPr lang="ru-RU" sz="3200" dirty="0" smtClean="0"/>
              <a:t>;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960458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1200" y="0"/>
            <a:ext cx="11480800" cy="9906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Особенности сберегательных сертификатов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1200" y="990600"/>
            <a:ext cx="11480800" cy="5867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Обязательные реквизиты и правила оформления сберегательных сертификатов подробно расписаны в положении Банка России № 645-П от 3 июля 2018 года</a:t>
            </a:r>
            <a:r>
              <a:rPr lang="ru-RU" sz="2400" dirty="0" smtClean="0"/>
              <a:t>.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В сертификате должны быть указаны следующие данные</a:t>
            </a:r>
            <a:r>
              <a:rPr lang="ru-RU" sz="2400" dirty="0" smtClean="0"/>
              <a:t>:</a:t>
            </a:r>
            <a:endParaRPr lang="ru-RU" sz="2400" dirty="0"/>
          </a:p>
          <a:p>
            <a:r>
              <a:rPr lang="ru-RU" sz="2400" dirty="0"/>
              <a:t>полное фирменное наименование кредитной организации;</a:t>
            </a:r>
          </a:p>
          <a:p>
            <a:r>
              <a:rPr lang="ru-RU" sz="2400" dirty="0"/>
              <a:t>ФИО вкладчика, его адрес;</a:t>
            </a:r>
          </a:p>
          <a:p>
            <a:r>
              <a:rPr lang="ru-RU" sz="2400" dirty="0"/>
              <a:t>сумма вклада, прописанная цифрами и прописью;</a:t>
            </a:r>
          </a:p>
          <a:p>
            <a:r>
              <a:rPr lang="ru-RU" sz="2400" dirty="0"/>
              <a:t>дата открытия вклада и срок действия;</a:t>
            </a:r>
          </a:p>
          <a:p>
            <a:r>
              <a:rPr lang="ru-RU" sz="2400" dirty="0"/>
              <a:t>размер начисленных процентов, указанных цифрами и прописью;</a:t>
            </a:r>
          </a:p>
          <a:p>
            <a:r>
              <a:rPr lang="ru-RU" sz="2400" dirty="0"/>
              <a:t>размер процентов, которые получит держатель сертификата, если захочет закрыть вклад досрочно.</a:t>
            </a:r>
          </a:p>
          <a:p>
            <a:pPr marL="0" indent="0">
              <a:buNone/>
            </a:pPr>
            <a:r>
              <a:rPr lang="ru-RU" dirty="0">
                <a:solidFill>
                  <a:srgbClr val="7030A0"/>
                </a:solidFill>
              </a:rPr>
              <a:t>Если какого-то реквизита, указанного в положении ЦБ, не хватает, то ценная бумага  признается недействительной</a:t>
            </a:r>
            <a:r>
              <a:rPr lang="ru-RU" dirty="0" smtClean="0">
                <a:solidFill>
                  <a:srgbClr val="7030A0"/>
                </a:solidFill>
              </a:rPr>
              <a:t>.</a:t>
            </a:r>
            <a:endParaRPr lang="ru-RU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48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3100" y="0"/>
            <a:ext cx="11518900" cy="8636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Можно ли передать вклад по наследству?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3100" y="863600"/>
            <a:ext cx="11518900" cy="5994400"/>
          </a:xfrm>
        </p:spPr>
        <p:txBody>
          <a:bodyPr>
            <a:noAutofit/>
          </a:bodyPr>
          <a:lstStyle/>
          <a:p>
            <a:r>
              <a:rPr lang="ru-RU" sz="3200" dirty="0"/>
              <a:t>Да. Для этого нужно составить </a:t>
            </a:r>
            <a:r>
              <a:rPr lang="ru-RU" sz="3200" dirty="0">
                <a:solidFill>
                  <a:srgbClr val="7030A0"/>
                </a:solidFill>
              </a:rPr>
              <a:t>завещание</a:t>
            </a:r>
            <a:r>
              <a:rPr lang="ru-RU" sz="3200" dirty="0"/>
              <a:t> или </a:t>
            </a:r>
            <a:r>
              <a:rPr lang="ru-RU" sz="3200" dirty="0">
                <a:solidFill>
                  <a:srgbClr val="7030A0"/>
                </a:solidFill>
              </a:rPr>
              <a:t>завещательное распоряжение</a:t>
            </a:r>
            <a:r>
              <a:rPr lang="ru-RU" sz="3200" dirty="0"/>
              <a:t>. Это разные документы</a:t>
            </a:r>
            <a:r>
              <a:rPr lang="ru-RU" sz="3200" dirty="0" smtClean="0"/>
              <a:t>. Завещание </a:t>
            </a:r>
            <a:r>
              <a:rPr lang="ru-RU" sz="3200" dirty="0"/>
              <a:t>составляется у нотариуса, который возьмет за него госпошлину и оплату своих услуг. Завещательное распоряжение можно бесплатно написать прямо в отделении банка, где вы открыли вклад</a:t>
            </a:r>
            <a:r>
              <a:rPr lang="ru-RU" sz="3200" dirty="0" smtClean="0"/>
              <a:t>. И </a:t>
            </a:r>
            <a:r>
              <a:rPr lang="ru-RU" sz="3200" dirty="0"/>
              <a:t>по завещательному распоряжению, и по завещанию наследник получит доступ к вкладу только после того, как закончится процедура оформления наследства. Сразу можно получить не более 100 000 рублей на организацию похорон — по постановлению нотариуса</a:t>
            </a:r>
            <a:r>
              <a:rPr lang="ru-RU" sz="3200" dirty="0" smtClean="0"/>
              <a:t>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22619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8500" y="0"/>
            <a:ext cx="11391900" cy="72390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Налогообложение вкладов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8500" y="838200"/>
            <a:ext cx="11493500" cy="601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dirty="0" smtClean="0"/>
              <a:t>Сама </a:t>
            </a:r>
            <a:r>
              <a:rPr lang="ru-RU" sz="3200" b="1" dirty="0"/>
              <a:t>сумма ваших сбережений на банковских вкладах и счетах налогом не облагается. </a:t>
            </a:r>
            <a:r>
              <a:rPr lang="ru-RU" sz="3200" dirty="0"/>
              <a:t>Деньги на вашем банковском вкладе или счёте – это ваше имущество, а не доход, поэтому они не облагаются налогом на доходы физических лиц (НДФЛ). Под налогообложение подпадает только процентный доход, который вы получили по вкладам и другим банковским счетам</a:t>
            </a:r>
            <a:r>
              <a:rPr lang="ru-RU" sz="3200" dirty="0" smtClean="0"/>
              <a:t>.</a:t>
            </a:r>
          </a:p>
          <a:p>
            <a:pPr marL="0" indent="0">
              <a:buNone/>
            </a:pPr>
            <a:r>
              <a:rPr lang="ru-RU" sz="3200" dirty="0"/>
              <a:t>При этом не имеет значения, сколько у вас вкладов (счетов), в одном или нескольких банках, в какой валюте, с какой периодичностью выплачиваются </a:t>
            </a:r>
            <a:r>
              <a:rPr lang="ru-RU" sz="3200" dirty="0" smtClean="0"/>
              <a:t>проценты.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955391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5800" y="0"/>
            <a:ext cx="115062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tx1"/>
                </a:solidFill>
              </a:rPr>
              <a:t>Суммируется весь процентный доход как по рублевым, так и по валютным вкладам</a:t>
            </a:r>
            <a:r>
              <a:rPr lang="ru-RU" sz="3600" dirty="0" smtClean="0">
                <a:solidFill>
                  <a:schemeClr val="tx1"/>
                </a:solidFill>
              </a:rPr>
              <a:t>:</a:t>
            </a:r>
            <a:endParaRPr lang="ru-RU" sz="3600" dirty="0">
              <a:solidFill>
                <a:schemeClr val="tx1"/>
              </a:solidFill>
            </a:endParaRPr>
          </a:p>
          <a:p>
            <a:r>
              <a:rPr lang="ru-RU" sz="3600" dirty="0" smtClean="0">
                <a:solidFill>
                  <a:schemeClr val="tx1"/>
                </a:solidFill>
              </a:rPr>
              <a:t>проценты </a:t>
            </a:r>
            <a:r>
              <a:rPr lang="ru-RU" sz="3600" dirty="0">
                <a:solidFill>
                  <a:schemeClr val="tx1"/>
                </a:solidFill>
              </a:rPr>
              <a:t>на остаток по карте и по накопительным счетам в рублях тоже считаются, если ставка по ним превышает 1% годовых – весь год или хотя бы какое-то время в течение года, за который вы платите налоги</a:t>
            </a:r>
            <a:r>
              <a:rPr lang="ru-RU" sz="3600" dirty="0" smtClean="0">
                <a:solidFill>
                  <a:schemeClr val="tx1"/>
                </a:solidFill>
              </a:rPr>
              <a:t>.</a:t>
            </a:r>
            <a:endParaRPr lang="ru-RU" sz="3600" dirty="0">
              <a:solidFill>
                <a:schemeClr val="tx1"/>
              </a:solidFill>
            </a:endParaRPr>
          </a:p>
          <a:p>
            <a:r>
              <a:rPr lang="ru-RU" sz="3600" dirty="0" smtClean="0">
                <a:solidFill>
                  <a:schemeClr val="tx1"/>
                </a:solidFill>
              </a:rPr>
              <a:t>выплата </a:t>
            </a:r>
            <a:r>
              <a:rPr lang="ru-RU" sz="3600" dirty="0">
                <a:solidFill>
                  <a:schemeClr val="tx1"/>
                </a:solidFill>
              </a:rPr>
              <a:t>процентов в иностранной валюте (независимо от размера ставки) для целей налогообложения пересчитывается в рубли по курсу Банка России на дату выплаты дохода</a:t>
            </a:r>
            <a:r>
              <a:rPr lang="ru-RU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445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4700" y="0"/>
            <a:ext cx="114173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Отметим, что при исчислении НДФЛ </a:t>
            </a:r>
            <a:r>
              <a:rPr lang="ru-RU" sz="3200" b="1" dirty="0"/>
              <a:t>не учитываются проценты</a:t>
            </a:r>
            <a:r>
              <a:rPr lang="ru-RU" sz="3200" dirty="0"/>
              <a:t> (п. 1 ст. 214.2 НК РФ</a:t>
            </a:r>
            <a:r>
              <a:rPr lang="ru-RU" sz="3200" dirty="0" smtClean="0"/>
              <a:t>):</a:t>
            </a:r>
            <a:endParaRPr lang="ru-RU" sz="3200" dirty="0"/>
          </a:p>
          <a:p>
            <a:r>
              <a:rPr lang="ru-RU" sz="3200" dirty="0"/>
              <a:t>по вкладам (остаткам на счетах) в рублях в банках на территории РФ, в том числе в Банке России, процентная ставка по которым в течение всего календарного года составляет не более 1% годовых;</a:t>
            </a:r>
          </a:p>
          <a:p>
            <a:r>
              <a:rPr lang="ru-RU" sz="3200" dirty="0"/>
              <a:t>по счетам </a:t>
            </a:r>
            <a:r>
              <a:rPr lang="ru-RU" sz="3200" dirty="0" err="1" smtClean="0"/>
              <a:t>эскроу</a:t>
            </a:r>
            <a:r>
              <a:rPr lang="ru-RU" sz="3200" dirty="0"/>
              <a:t> </a:t>
            </a:r>
            <a:r>
              <a:rPr lang="ru-RU" sz="3200" dirty="0" smtClean="0"/>
              <a:t>(</a:t>
            </a:r>
            <a:r>
              <a:rPr lang="ru-RU" sz="3200" dirty="0" err="1" smtClean="0"/>
              <a:t>см.рисунок</a:t>
            </a:r>
            <a:r>
              <a:rPr lang="ru-RU" sz="3200" dirty="0" smtClean="0"/>
              <a:t>)</a:t>
            </a:r>
          </a:p>
          <a:p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0" y="3658527"/>
            <a:ext cx="8775700" cy="319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600" y="0"/>
            <a:ext cx="11455400" cy="6604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Какова сумма налога?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6600" y="812800"/>
            <a:ext cx="11455400" cy="6045200"/>
          </a:xfrm>
        </p:spPr>
        <p:txBody>
          <a:bodyPr>
            <a:normAutofit/>
          </a:bodyPr>
          <a:lstStyle/>
          <a:p>
            <a:r>
              <a:rPr lang="ru-RU" sz="2800" dirty="0"/>
              <a:t>НДФЛ облагается общая годовая сумма процентного дохода за минусом необлагаемой суммы. Она рассчитывается по формуле: 1 млн рублей × максимальное значение ключевой ставки Банка России из действовавших на первое число каждого месяца в календарном году.</a:t>
            </a:r>
          </a:p>
          <a:p>
            <a:endParaRPr lang="ru-RU" sz="2800" dirty="0"/>
          </a:p>
          <a:p>
            <a:r>
              <a:rPr lang="ru-RU" sz="2800" dirty="0"/>
              <a:t>Учитывая, что за 2024 год максимальное значение ключевой ставки составляло 21%, необлагаемый минимум за 2024 год составляет 210 тыс. рублей (1 млн рублей × 21%). Только полученный сверх этой суммы совокупный процентный доход подлежит налогообложению.</a:t>
            </a:r>
          </a:p>
        </p:txBody>
      </p:sp>
    </p:spTree>
    <p:extLst>
      <p:ext uri="{BB962C8B-B14F-4D97-AF65-F5344CB8AC3E}">
        <p14:creationId xmlns:p14="http://schemas.microsoft.com/office/powerpoint/2010/main" val="3912574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1200" y="0"/>
            <a:ext cx="114808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Пример расчета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1200" y="825500"/>
            <a:ext cx="11480800" cy="6032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 1 января 2025 года в России введена пятиступенчатая прогрессивная шкала НДФЛ. Вместо ставок 13% и 15% установлены пять уровней налогообложения: 13%, 15%, 18%, 20% и 22% в зависимости от уровня дохода.</a:t>
            </a:r>
          </a:p>
          <a:p>
            <a:endParaRPr lang="ru-RU" dirty="0"/>
          </a:p>
          <a:p>
            <a:r>
              <a:rPr lang="ru-RU" dirty="0"/>
              <a:t>Для процентного дохода по депозитам ставки 13% и 15% сохраняются. Теперь физические лица будут платить 13% при годовом доходе до 2,4 млн рублей, а с суммы свыше этого порога - 15% (без дальнейшего увеличения).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Например, общий доход по вкладам за 2024 год составил 270 тыс. рублей. Это на 60 тыс. рублей больше необлагаемой суммы (210 тыс. рублей). Налог нужно будет заплатить с 60 тыс. рублей. Сумма налога составит 7800 рублей (60 тыс. рублей × 13%).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Декларировать процентный доход по вкладам (остаткам на счетах) в российских банках не нужно. Исчисляют НДФЛ с процентов налоговые органы на основании сведений, полученных от банков. Сумма налога включается в налоговое уведомление (вместе с имущественными налогами), которое будет направлено налогоплательщикам во втором полугодии текущего года. Срок уплаты НДФЛ за 2024 год - не позднее 1 декабря 2025 года.</a:t>
            </a:r>
          </a:p>
        </p:txBody>
      </p:sp>
    </p:spTree>
    <p:extLst>
      <p:ext uri="{BB962C8B-B14F-4D97-AF65-F5344CB8AC3E}">
        <p14:creationId xmlns:p14="http://schemas.microsoft.com/office/powerpoint/2010/main" val="8823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1200" y="0"/>
            <a:ext cx="11480800" cy="749300"/>
          </a:xfrm>
        </p:spPr>
        <p:txBody>
          <a:bodyPr/>
          <a:lstStyle/>
          <a:p>
            <a:r>
              <a:rPr lang="ru-RU" dirty="0" smtClean="0"/>
              <a:t>Домашнее задание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1200" y="749300"/>
            <a:ext cx="11480800" cy="431800"/>
          </a:xfrm>
        </p:spPr>
        <p:txBody>
          <a:bodyPr/>
          <a:lstStyle/>
          <a:p>
            <a:r>
              <a:rPr lang="ru-RU" dirty="0" smtClean="0"/>
              <a:t>Выполнить ВСЕ задания из файла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201231"/>
              </p:ext>
            </p:extLst>
          </p:nvPr>
        </p:nvGraphicFramePr>
        <p:xfrm>
          <a:off x="892174" y="1352841"/>
          <a:ext cx="4543425" cy="152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Объект упаковщика для оболочки" showAsIcon="1" r:id="rId3" imgW="1562040" imgH="523800" progId="Package">
                  <p:embed/>
                </p:oleObj>
              </mc:Choice>
              <mc:Fallback>
                <p:oleObj name="Объект упаковщика для оболочки" showAsIcon="1" r:id="rId3" imgW="1562040" imgH="523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2174" y="1352841"/>
                        <a:ext cx="4543425" cy="1523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123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86</TotalTime>
  <Words>881</Words>
  <Application>Microsoft Office PowerPoint</Application>
  <PresentationFormat>Широкоэкранный</PresentationFormat>
  <Paragraphs>56</Paragraphs>
  <Slides>14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Franklin Gothic Book</vt:lpstr>
      <vt:lpstr>GraphikCy</vt:lpstr>
      <vt:lpstr>YS Text</vt:lpstr>
      <vt:lpstr>Crop</vt:lpstr>
      <vt:lpstr>Объект упаковщика для оболочки</vt:lpstr>
      <vt:lpstr> Депозит и Вклады физических лиц</vt:lpstr>
      <vt:lpstr>Сущность вклада. Депозит и вклад.</vt:lpstr>
      <vt:lpstr>Какие бывают депозиты</vt:lpstr>
      <vt:lpstr>Презентация PowerPoint</vt:lpstr>
      <vt:lpstr>Презентация PowerPoint</vt:lpstr>
      <vt:lpstr>Презентация PowerPoint</vt:lpstr>
      <vt:lpstr>Особенности сберегательных сертификатов</vt:lpstr>
      <vt:lpstr>Можно ли передать вклад по наследству?</vt:lpstr>
      <vt:lpstr>Налогообложение вкладов</vt:lpstr>
      <vt:lpstr>Презентация PowerPoint</vt:lpstr>
      <vt:lpstr>Презентация PowerPoint</vt:lpstr>
      <vt:lpstr>Какова сумма налога?</vt:lpstr>
      <vt:lpstr>Пример расчета</vt:lpstr>
      <vt:lpstr>Домашнее 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Вклады физических лиц</dc:title>
  <dc:creator>Марина Леденцова</dc:creator>
  <cp:lastModifiedBy>Марина Леденцова</cp:lastModifiedBy>
  <cp:revision>11</cp:revision>
  <dcterms:created xsi:type="dcterms:W3CDTF">2025-10-28T12:57:35Z</dcterms:created>
  <dcterms:modified xsi:type="dcterms:W3CDTF">2025-10-29T04:03:42Z</dcterms:modified>
</cp:coreProperties>
</file>