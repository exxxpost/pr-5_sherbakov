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commentAuthors.xml" ContentType="application/vnd.openxmlformats-officedocument.presentationml.commentAuthors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comments/comment1.xml" ContentType="application/vnd.openxmlformats-officedocument.presentationml.comments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на Леденцова" initials="МЛ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6" d="100"/>
          <a:sy n="76" d="100"/>
        </p:scale>
        <p:origin x="126" y="972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Relationship Id="rId2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m authorId="1" dt="2025-10-20T19:57:17Z" idx="1">
    <p:pos x="5749" y="2132"/>
    <p:text>Некоторые виды исполнительных документов:
Исполнительный лист. Выдаётся судом после вынесения судебного акта.
Судебный приказ. Это постановление или акт, вынесенный единолично судьёй по заявлению истца.
Акт по административному правонарушению. Составляется при привлечении человека к ответственности по административным, налоговым, гражданским и другим делам.
Постановление судебного пристава-исполнителя. Выносится на основании решения суда или требования исполнительных органов.
Акт по трудовым спорам. Составляется комиссией по трудовым спорам и выдаётся на руки работнику для дальнейшего взаимодействия с судебными приставами.
Исполнительный документ, оформленный нотариусом. К таким документам относятся, например, соглашение об алиментах, медиативное соглашение, исполнительная надпись.
Исполнительный документ по международному договору. Например, запрос иностранного суда о взыскании алиментов в отношении россиянина.
Акты и решения контролирующих органов. К ним относятся акты ФНС, ПФР или ФСС, связанные с взысканием задолженности с организаций и ИП в отношении налогов и взносов.</p:text>
    <p:extLst>
      <p:ext uri="{C676402C-5697-4E1C-873F-D02D1690AC5C}">
        <p15:threadingInfo xmlns:p15="http://schemas.microsoft.com/office/powerpoint/2012/main" timeZoneBias="-420"/>
      </p:ext>
      <p:ext uri="{19B8F6BF-5375-455C-9EA6-DF929625EA0E}">
        <p15:presenceInfo xmlns:p15="http://schemas.microsoft.com/office/powerpoint/2012/main" userId="teamlab_data:0;1;1;1;16;Марина Леденцова;2;1;0;3;20;2025-10-20T12:57:17Z;4;38;{00FD00D3-0025-4D6E-9FF4-009000B700DF};" providerId="AD"/>
      </p:ext>
    </p:extLst>
  </p:cm>
</p:cmLst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Титульный слайд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52858" y="6453386"/>
            <a:ext cx="1607944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CF5A5C8-652A-4643-932D-BAC73564A17F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584054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ED3F32B-E238-4CA5-96D3-3FECE6181552}" type="slidenum">
              <a:rPr lang="ru-RU"/>
              <a:t/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 bwMode="auto"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 fill="norm" stroke="1" extrusionOk="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 fill="norm" stroke="1" extrusionOk="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F5A5C8-652A-4643-932D-BAC73564A17F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ED3F32B-E238-4CA5-96D3-3FECE6181552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CF5A5C8-652A-4643-932D-BAC73564A17F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ED3F32B-E238-4CA5-96D3-3FECE6181552}" type="slidenum">
              <a:rPr lang="ru-RU"/>
              <a:t/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 fill="norm" stroke="1" extrusionOk="0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371600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F5A5C8-652A-4643-932D-BAC73564A17F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ED3F32B-E238-4CA5-96D3-3FECE6181552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371600" y="3305206"/>
            <a:ext cx="4443984" cy="256219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525014" y="3305206"/>
            <a:ext cx="4443984" cy="256219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F5A5C8-652A-4643-932D-BAC73564A17F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ED3F32B-E238-4CA5-96D3-3FECE6181552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F5A5C8-652A-4643-932D-BAC73564A17F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ED3F32B-E238-4CA5-96D3-3FECE6181552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F5A5C8-652A-4643-932D-BAC73564A17F}" type="datetimeFigureOut">
              <a:rPr lang="ru-RU"/>
              <a:t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ED3F32B-E238-4CA5-96D3-3FECE6181552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 bwMode="auto"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2999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CF5A5C8-652A-4643-932D-BAC73564A17F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ED3F32B-E238-4CA5-96D3-3FECE6181552}" type="slidenum">
              <a:rPr lang="ru-RU"/>
              <a:t/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 bwMode="auto"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 bwMode="auto"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2999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CF5A5C8-652A-4643-932D-BAC73564A17F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ED3F32B-E238-4CA5-96D3-3FECE6181552}" type="slidenum">
              <a:rPr lang="ru-RU"/>
              <a:t/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 bwMode="auto"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371600" y="2295525"/>
            <a:ext cx="9601200" cy="3571875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F5A5C8-652A-4643-932D-BAC73564A17F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ED3F32B-E238-4CA5-96D3-3FECE6181552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596561" y="624156"/>
            <a:ext cx="1565766" cy="5243244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371600" y="624156"/>
            <a:ext cx="8179641" cy="5243244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CF5A5C8-652A-4643-932D-BAC73564A17F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ED3F32B-E238-4CA5-96D3-3FECE6181552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CF5A5C8-652A-4643-932D-BAC73564A17F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ED3F32B-E238-4CA5-96D3-3FECE6181552}" type="slidenum">
              <a:rPr lang="ru-RU"/>
              <a:t/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 bwMode="auto"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89000"/>
        </a:lnSpc>
        <a:spcBef>
          <a:spcPts val="0"/>
        </a:spcBef>
        <a:buNone/>
        <a:defRPr sz="44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>
        <a:lnSpc>
          <a:spcPct val="94000"/>
        </a:lnSpc>
        <a:spcBef>
          <a:spcPts val="1000"/>
        </a:spcBef>
        <a:spcAft>
          <a:spcPts val="200"/>
        </a:spcAft>
        <a:buFont typeface="Franklin Gothic Book"/>
        <a:buChar char="■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2000" i="1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80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800" i="1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60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600" i="1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400" i="1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onsultant.ru/document/cons_doc_LAW_39331/c48290d39215783e73f0899bb1026b14cb221eff/" TargetMode="External"/><Relationship Id="rId3" Type="http://schemas.openxmlformats.org/officeDocument/2006/relationships/hyperlink" Target="https://www.consultant.ru/document/cons_doc_LAW_71450/99b1cb43368d1b0d32ab632d913e56f973a1c0d9/" TargetMode="External"/><Relationship Id="rId4" Type="http://schemas.openxmlformats.org/officeDocument/2006/relationships/comments" Target="../comments/commen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consultant.ru/document/cons_doc_LAW_39331/d127131517da88a7b6115c16a8d95c0fe5e4d9ec/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bankrot.fedresurs.ru/amsros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rbitr.ru/" TargetMode="Externa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gosuslugi.ru/life/details/bankruptcy_of_individuals" TargetMode="External"/><Relationship Id="rId3" Type="http://schemas.openxmlformats.org/officeDocument/2006/relationships/hyperlink" Target="https://www.gosuslugi.ru/life/details/relatives_loans?categoryCode=financy_nalogi_shtrafi" TargetMode="External"/><Relationship Id="rId4" Type="http://schemas.openxmlformats.org/officeDocument/2006/relationships/hyperlink" Target="https://fincult.info/article/pochemu-dolgi-po-kreditam-i-zaymam-ne-ischeznut-sami-soboy/" TargetMode="External"/><Relationship Id="rId5" Type="http://schemas.openxmlformats.org/officeDocument/2006/relationships/hyperlink" Target="https://fincult.info/article/v-kakikh-sluchayakh-mozhno-poteryat-zhile-iz-za-kredita/" TargetMode="External"/><Relationship Id="rId6" Type="http://schemas.openxmlformats.org/officeDocument/2006/relationships/hyperlink" Target="https://fincult.info/article/kak-poluchit-ipotechnye-kanikuly/" TargetMode="External"/><Relationship Id="rId7" Type="http://schemas.openxmlformats.org/officeDocument/2006/relationships/hyperlink" Target="https://fincult.info/article/kak-vzyat-kredit-i-ne-uvyaznut-v-dolgakh/" TargetMode="External"/><Relationship Id="rId8" Type="http://schemas.openxmlformats.org/officeDocument/2006/relationships/hyperlink" Target="https://fpa.ru/info/blokirovka-kart-i-schetov-v-procedure-bankrotstv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155699" y="2070100"/>
            <a:ext cx="9867900" cy="2324580"/>
          </a:xfrm>
        </p:spPr>
        <p:txBody>
          <a:bodyPr/>
          <a:lstStyle/>
          <a:p>
            <a:pPr>
              <a:defRPr/>
            </a:pPr>
            <a:r>
              <a:rPr lang="ru-RU"/>
              <a:t>Банкротство физических лиц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36600" y="0"/>
            <a:ext cx="11455400" cy="825500"/>
          </a:xfrm>
        </p:spPr>
        <p:txBody>
          <a:bodyPr/>
          <a:lstStyle/>
          <a:p>
            <a:pPr>
              <a:defRPr/>
            </a:pPr>
            <a:r>
              <a:rPr lang="ru-RU"/>
              <a:t>Что такое банкротство гражданина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36600" y="685800"/>
            <a:ext cx="11455400" cy="603250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ru-RU" sz="2400" b="1"/>
              <a:t>1) По закону (ст. 2 127-ФЗ):</a:t>
            </a:r>
            <a:endParaRPr/>
          </a:p>
          <a:p>
            <a:pPr marL="0" indent="0">
              <a:buNone/>
              <a:defRPr/>
            </a:pPr>
            <a:r>
              <a:rPr lang="ru-RU" sz="2400" b="1"/>
              <a:t>Несостоятельность (банкротство)</a:t>
            </a:r>
            <a:r>
              <a:rPr lang="ru-RU" sz="2400"/>
              <a:t> — признанная арбитражным судом неспособность </a:t>
            </a:r>
            <a:r>
              <a:rPr lang="ru-RU" sz="2400"/>
              <a:t>должника в </a:t>
            </a:r>
            <a:r>
              <a:rPr lang="ru-RU" sz="2400"/>
              <a:t>полном объеме удовлетворить требования кредиторов по денежным обязательствам, о выплате выходных пособий и  (или) об  оплате труда лиц, работающих или работавших по  трудовому договору, и (или) исполнить обязанность по уплате обязательных платежей.</a:t>
            </a:r>
            <a:endParaRPr/>
          </a:p>
          <a:p>
            <a:pPr marL="0" indent="0">
              <a:buNone/>
              <a:defRPr/>
            </a:pPr>
            <a:r>
              <a:rPr lang="ru-RU" sz="2400" b="1"/>
              <a:t>2) Глазами должника-гражданина:</a:t>
            </a:r>
            <a:endParaRPr/>
          </a:p>
          <a:p>
            <a:pPr marL="0" indent="0">
              <a:buNone/>
              <a:defRPr/>
            </a:pPr>
            <a:r>
              <a:rPr lang="ru-RU" sz="2400"/>
              <a:t>Возможность списать долги. Избавиться от преследования и звонков со стороны назойливых </a:t>
            </a:r>
            <a:r>
              <a:rPr lang="ru-RU" sz="2400"/>
              <a:t>коллекторов</a:t>
            </a:r>
            <a:r>
              <a:rPr lang="ru-RU" sz="2400"/>
              <a:t>, банков и прочих кредиторов</a:t>
            </a:r>
            <a:r>
              <a:rPr lang="ru-RU" sz="2400"/>
              <a:t>.</a:t>
            </a:r>
            <a:endParaRPr/>
          </a:p>
          <a:p>
            <a:pPr marL="0" indent="0">
              <a:buNone/>
              <a:defRPr/>
            </a:pPr>
            <a:r>
              <a:rPr lang="ru-RU" sz="2400" b="1"/>
              <a:t>3) Глазами кредитора:</a:t>
            </a:r>
            <a:endParaRPr/>
          </a:p>
          <a:p>
            <a:pPr marL="0" indent="0">
              <a:buNone/>
              <a:defRPr/>
            </a:pPr>
            <a:r>
              <a:rPr lang="ru-RU" sz="2400"/>
              <a:t>Возможность вывернуть должника «наизнанку». Запретить ему выезд из  Российской Федерации, получить доступ к  информации о  </a:t>
            </a:r>
            <a:r>
              <a:rPr lang="ru-RU" sz="2400"/>
              <a:t>движении денежных </a:t>
            </a:r>
            <a:r>
              <a:rPr lang="ru-RU" sz="2400"/>
              <a:t>средств по его счетам за последние несколько лет, предшествовавших банкротству, оспорить прошлые сделки по  отчуждению имущества</a:t>
            </a:r>
            <a:r>
              <a:rPr lang="ru-RU" sz="2400"/>
              <a:t>.</a:t>
            </a:r>
            <a:endParaRPr lang="ru-RU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98500" y="0"/>
            <a:ext cx="11493500" cy="774700"/>
          </a:xfrm>
        </p:spPr>
        <p:txBody>
          <a:bodyPr/>
          <a:lstStyle/>
          <a:p>
            <a:pPr>
              <a:defRPr/>
            </a:pPr>
            <a:r>
              <a:rPr lang="ru-RU"/>
              <a:t>Неплатежеспособность гражданина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98500" y="774700"/>
            <a:ext cx="11493500" cy="6083300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ru-RU" sz="2400"/>
              <a:t>Под </a:t>
            </a:r>
            <a:r>
              <a:rPr lang="ru-RU" sz="2400" b="1"/>
              <a:t>неплатежеспособностью</a:t>
            </a:r>
            <a:r>
              <a:rPr lang="ru-RU" sz="2400"/>
              <a:t> понимается неспособность удовлетворить в  полном объеме требования кредиторов по  денежным обязательствам и  (или) исполнить обязанность по  уплате обязательных </a:t>
            </a:r>
            <a:r>
              <a:rPr lang="ru-RU" sz="2400"/>
              <a:t>платежей.(п.3</a:t>
            </a:r>
            <a:r>
              <a:rPr lang="ru-RU" sz="2400"/>
              <a:t>  ст. 213.6 Закона</a:t>
            </a:r>
            <a:r>
              <a:rPr lang="ru-RU" sz="2400"/>
              <a:t>).</a:t>
            </a:r>
            <a:endParaRPr/>
          </a:p>
          <a:p>
            <a:pPr marL="0" indent="0">
              <a:buNone/>
              <a:defRPr/>
            </a:pPr>
            <a:r>
              <a:rPr lang="ru-RU" sz="2400" b="1"/>
              <a:t>Обязательные </a:t>
            </a:r>
            <a:r>
              <a:rPr lang="ru-RU" sz="2400" b="1"/>
              <a:t>платежи </a:t>
            </a:r>
            <a:r>
              <a:rPr lang="ru-RU" sz="2400"/>
              <a:t>- налоги, сборы и иные обязательные взносы, уплачиваемые в бюджет соответствующего уровня бюджетной системы Российской Федерации и (или) государственные внебюджетные </a:t>
            </a:r>
            <a:r>
              <a:rPr lang="ru-RU" sz="2400"/>
              <a:t>фонды, в </a:t>
            </a:r>
            <a:r>
              <a:rPr lang="ru-RU" sz="2400"/>
              <a:t>том числе штрафы, пени и иные санкции за неисполнение или ненадлежащее исполнение обязанности по уплате налогов, сборов и иных обязательных взносов в бюджет соответствующего уровня бюджетной системы Российской Федерации и (или) государственные внебюджетные фонды, а также административные штрафы и установленные уголовным законодательством </a:t>
            </a:r>
            <a:r>
              <a:rPr lang="ru-RU" sz="2400"/>
              <a:t>штрафы.</a:t>
            </a:r>
            <a:endParaRPr/>
          </a:p>
          <a:p>
            <a:pPr marL="0" indent="0">
              <a:buNone/>
              <a:defRPr/>
            </a:pPr>
            <a:r>
              <a:rPr lang="ru-RU" sz="2400" b="1"/>
              <a:t>Мораторий</a:t>
            </a:r>
            <a:r>
              <a:rPr lang="ru-RU" sz="2400"/>
              <a:t> </a:t>
            </a:r>
            <a:r>
              <a:rPr lang="ru-RU" sz="2400"/>
              <a:t>- приостановление исполнения должником денежных обязательств и уплаты обязательных </a:t>
            </a:r>
            <a:r>
              <a:rPr lang="ru-RU" sz="2400"/>
              <a:t>платежей</a:t>
            </a:r>
            <a:r>
              <a:rPr lang="ru-RU" sz="2400"/>
              <a:t>.</a:t>
            </a:r>
            <a:endParaRPr lang="ru-RU" sz="2400"/>
          </a:p>
          <a:p>
            <a:pPr marL="0" indent="0">
              <a:buNone/>
              <a:defRPr/>
            </a:pPr>
            <a:r>
              <a:rPr lang="ru-RU" sz="2400" b="1"/>
              <a:t>Финансовое </a:t>
            </a:r>
            <a:r>
              <a:rPr lang="ru-RU" sz="2400" b="1"/>
              <a:t>оздоровление </a:t>
            </a:r>
            <a:r>
              <a:rPr lang="ru-RU" sz="2400"/>
              <a:t>- процедура, применяемая в деле о банкротстве к должнику в целях восстановления его платежеспособности и погашения задолженности в соответствии с графиком погашения задолженности;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85800" y="0"/>
            <a:ext cx="11506200" cy="8255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400" b="1"/>
              <a:t>Гражданин предполагается неплатежеспособным при</a:t>
            </a:r>
            <a:br>
              <a:rPr lang="ru-RU" sz="2400" b="1"/>
            </a:br>
            <a:r>
              <a:rPr lang="ru-RU" sz="2400" b="1"/>
              <a:t>условии, что имеет место хотя бы одно из следующих обстоятельств: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85800" y="990600"/>
            <a:ext cx="11506200" cy="5867399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400"/>
              <a:t>гражданин </a:t>
            </a:r>
            <a:r>
              <a:rPr lang="ru-RU" sz="2400"/>
              <a:t>прекратил расчеты с кредиторами, то  есть перестал исполнять денежные обязательства и (или) обязанность по уплате обязательных платежей, срок исполнения которых наступил;</a:t>
            </a:r>
            <a:endParaRPr/>
          </a:p>
          <a:p>
            <a:pPr>
              <a:defRPr/>
            </a:pPr>
            <a:r>
              <a:rPr lang="ru-RU" sz="2400"/>
              <a:t>более </a:t>
            </a:r>
            <a:r>
              <a:rPr lang="ru-RU" sz="2400"/>
              <a:t>чем 10% совокупного размера денежных обязательств и  (или) обязанности по  </a:t>
            </a:r>
            <a:r>
              <a:rPr lang="ru-RU" sz="2400"/>
              <a:t>уплате обязательных </a:t>
            </a:r>
            <a:r>
              <a:rPr lang="ru-RU" sz="2400"/>
              <a:t>платежей, которые имеются у гражданина и срок исполнения которых наступил, не исполнены им в  течение более чем одного </a:t>
            </a:r>
            <a:r>
              <a:rPr lang="ru-RU" sz="2400"/>
              <a:t>месяца со  </a:t>
            </a:r>
            <a:r>
              <a:rPr lang="ru-RU" sz="2400"/>
              <a:t>дня, когда такие обязательства и (или) обязанность должны быть исполнены;</a:t>
            </a:r>
            <a:endParaRPr/>
          </a:p>
          <a:p>
            <a:pPr>
              <a:defRPr/>
            </a:pPr>
            <a:r>
              <a:rPr lang="ru-RU" sz="2400"/>
              <a:t>размер </a:t>
            </a:r>
            <a:r>
              <a:rPr lang="ru-RU" sz="2400"/>
              <a:t>задолженности гражданина превышает стоимость его имущества, в том числе </a:t>
            </a:r>
            <a:r>
              <a:rPr lang="ru-RU" sz="2400"/>
              <a:t>права требования</a:t>
            </a:r>
            <a:r>
              <a:rPr lang="ru-RU" sz="2400"/>
              <a:t>;</a:t>
            </a:r>
            <a:endParaRPr/>
          </a:p>
          <a:p>
            <a:pPr>
              <a:defRPr/>
            </a:pPr>
            <a:r>
              <a:rPr lang="ru-RU" sz="2400"/>
              <a:t>наличие </a:t>
            </a:r>
            <a:r>
              <a:rPr lang="ru-RU" sz="2400"/>
              <a:t>постановления об окончании исполнительного производства в связи с тем, что у гражданина отсутствует имущество, на  которое </a:t>
            </a:r>
            <a:r>
              <a:rPr lang="ru-RU" sz="2400"/>
              <a:t>может быть </a:t>
            </a:r>
            <a:r>
              <a:rPr lang="ru-RU" sz="2400"/>
              <a:t>обращено взыскание.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73100" y="0"/>
            <a:ext cx="11518900" cy="6985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1"/>
              <a:t>Что такое конкурсная масса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74700" y="698500"/>
            <a:ext cx="11417300" cy="61595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Все выявленное имущество должника-гражданина, которое подлежит последующей </a:t>
            </a:r>
            <a:r>
              <a:rPr lang="ru-RU"/>
              <a:t>реализации </a:t>
            </a:r>
            <a:r>
              <a:rPr lang="ru-RU"/>
              <a:t>с целью погашения имеющихся у него долгов, составляет </a:t>
            </a:r>
            <a:r>
              <a:rPr lang="ru-RU" b="1"/>
              <a:t>конкурсную </a:t>
            </a:r>
            <a:r>
              <a:rPr lang="ru-RU" b="1"/>
              <a:t>массу.</a:t>
            </a:r>
            <a:endParaRPr/>
          </a:p>
          <a:p>
            <a:pPr marL="0" indent="0">
              <a:buNone/>
              <a:defRPr/>
            </a:pPr>
            <a:r>
              <a:rPr lang="ru-RU" sz="3600">
                <a:solidFill>
                  <a:srgbClr val="0070C0"/>
                </a:solidFill>
              </a:rPr>
              <a:t>В конкурсную массу </a:t>
            </a:r>
            <a:r>
              <a:rPr lang="ru-RU" sz="3600" b="1">
                <a:solidFill>
                  <a:srgbClr val="0070C0"/>
                </a:solidFill>
              </a:rPr>
              <a:t>может включаться </a:t>
            </a:r>
            <a:r>
              <a:rPr lang="ru-RU" sz="3600">
                <a:solidFill>
                  <a:srgbClr val="0070C0"/>
                </a:solidFill>
              </a:rPr>
              <a:t>имущество гражданина, составляющее его долю в общем имуществе, на которое может быть обращено взыскание в соответствии с  гражданским законодательством и семейным законодательством. Кредитор вправе предъявить требование о  выделении доли гражданина в общем имуществе для обращения на нее взыскания</a:t>
            </a:r>
            <a:r>
              <a:rPr lang="ru-RU" sz="3600">
                <a:solidFill>
                  <a:srgbClr val="0070C0"/>
                </a:solidFill>
              </a:rPr>
              <a:t>».</a:t>
            </a:r>
            <a:endParaRPr/>
          </a:p>
          <a:p>
            <a:pPr marL="0" indent="0">
              <a:buNone/>
              <a:defRPr/>
            </a:pPr>
            <a:endParaRPr lang="ru-RU" b="1">
              <a:solidFill>
                <a:srgbClr val="0070C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23900" y="0"/>
            <a:ext cx="11468100" cy="1155699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b="1"/>
              <a:t>В каких случаях подойдет внесудебное банкротство?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23900" y="1155699"/>
            <a:ext cx="11468100" cy="57023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3200"/>
              <a:t>Воспользоваться процедурой внесудебного банкротства можно, если в сумме вы задолжали всем своим кредиторам </a:t>
            </a:r>
            <a:r>
              <a:rPr lang="ru-RU" sz="3200" b="1" u="sng">
                <a:hlinkClick r:id="rId2" tooltip="https://www.consultant.ru/document/cons_doc_LAW_39331/c48290d39215783e73f0899bb1026b14cb221eff/"/>
              </a:rPr>
              <a:t>от 25 000 до 1 000 000 рублей</a:t>
            </a:r>
            <a:r>
              <a:rPr lang="ru-RU" sz="3200" b="1"/>
              <a:t> </a:t>
            </a:r>
            <a:r>
              <a:rPr lang="ru-RU" sz="3200"/>
              <a:t>(без учета штрафов, пеней и процентов за просрочку платежа). При этом хотя бы один из кредиторов уже обращался в суд, получил </a:t>
            </a:r>
            <a:r>
              <a:rPr lang="ru-RU" sz="3200" u="sng">
                <a:hlinkClick r:id="rId3" tooltip="https://www.consultant.ru/document/cons_doc_LAW_71450/99b1cb43368d1b0d32ab632d913e56f973a1c0d9/"/>
              </a:rPr>
              <a:t>исполнительный документ</a:t>
            </a:r>
            <a:r>
              <a:rPr lang="ru-RU" sz="3200"/>
              <a:t> </a:t>
            </a:r>
            <a:r>
              <a:rPr lang="ru-RU" sz="3200"/>
              <a:t>  и</a:t>
            </a:r>
            <a:r>
              <a:rPr lang="ru-RU" sz="3200"/>
              <a:t> передал его судебным приставам, вашему банку, работодателю или в Социальный фонд России (СФР). Но взыскать с вас долг не удалось.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28132" y="0"/>
            <a:ext cx="11463867" cy="778933"/>
          </a:xfrm>
        </p:spPr>
        <p:txBody>
          <a:bodyPr/>
          <a:lstStyle/>
          <a:p>
            <a:pPr>
              <a:defRPr/>
            </a:pPr>
            <a:r>
              <a:rPr lang="ru-RU"/>
              <a:t>Когда можно оформить?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28132" y="897467"/>
            <a:ext cx="11463868" cy="596053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400"/>
              <a:t>Судебные приставы не нашли имущества, за счет которого удалось бы рассчитаться с кредиторами (у вас не могут забрать предметы первой необходимости и единственное жилье — если оно не находится в ипотеке). В итоге хотя бы одно исполнительное производство окончилось. И после этого никто из кредиторов не инициировал новое</a:t>
            </a:r>
            <a:r>
              <a:rPr lang="ru-RU" sz="2400"/>
              <a:t>.</a:t>
            </a:r>
            <a:endParaRPr/>
          </a:p>
          <a:p>
            <a:pPr>
              <a:defRPr/>
            </a:pPr>
            <a:r>
              <a:rPr lang="ru-RU" sz="2400"/>
              <a:t>Взыскание </a:t>
            </a:r>
            <a:r>
              <a:rPr lang="ru-RU" sz="2400"/>
              <a:t>долга длится как минимум семь лет. </a:t>
            </a:r>
            <a:endParaRPr lang="ru-RU" sz="2400"/>
          </a:p>
          <a:p>
            <a:pPr>
              <a:defRPr/>
            </a:pPr>
            <a:r>
              <a:rPr lang="ru-RU" sz="2400"/>
              <a:t>Кредитор </a:t>
            </a:r>
            <a:r>
              <a:rPr lang="ru-RU" sz="2400"/>
              <a:t>не меньше года списывает у вас деньги по исполнительному документу, но долг еще не удалось погасить. Ваш основной источник дохода — пенсия или пособие в связи с рождением и воспитанием ребенка. Другого имущества, которое можно взыскать, у вас нет</a:t>
            </a:r>
            <a:r>
              <a:rPr lang="ru-RU" sz="2400"/>
              <a:t>.</a:t>
            </a:r>
            <a:endParaRPr/>
          </a:p>
          <a:p>
            <a:pPr>
              <a:defRPr/>
            </a:pPr>
            <a:r>
              <a:rPr lang="ru-RU" sz="2400"/>
              <a:t>Вы </a:t>
            </a:r>
            <a:r>
              <a:rPr lang="ru-RU" sz="2400"/>
              <a:t>участвуете или участвовали в специальной военной операции (СВО). Исполнительное производство длится минимум год, но долг пока не погашен и у вас нет подходящего для взыскания имущества</a:t>
            </a:r>
            <a:r>
              <a:rPr lang="ru-RU" sz="2400"/>
              <a:t>.</a:t>
            </a:r>
            <a:endParaRPr lang="ru-RU" sz="2400"/>
          </a:p>
        </p:txBody>
      </p:sp>
      <p:sp>
        <p:nvSpPr>
          <p:cNvPr id="4" name="Прямоугольник 3"/>
          <p:cNvSpPr/>
          <p:nvPr/>
        </p:nvSpPr>
        <p:spPr bwMode="auto">
          <a:xfrm>
            <a:off x="728131" y="6211669"/>
            <a:ext cx="114638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</a:rPr>
              <a:t>Если ваш случай не вписывается ни в одну из этих ситуаций, получится запустить только </a:t>
            </a:r>
            <a:r>
              <a:rPr lang="ru-RU" b="1">
                <a:solidFill>
                  <a:srgbClr val="FF0000"/>
                </a:solidFill>
              </a:rPr>
              <a:t>судебное банкротство.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98500" y="0"/>
            <a:ext cx="11493500" cy="800100"/>
          </a:xfrm>
        </p:spPr>
        <p:txBody>
          <a:bodyPr/>
          <a:lstStyle/>
          <a:p>
            <a:pPr algn="ctr">
              <a:defRPr/>
            </a:pPr>
            <a:r>
              <a:rPr lang="ru-RU"/>
              <a:t>Судебное банкротство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98500" y="800100"/>
            <a:ext cx="11493500" cy="6057900"/>
          </a:xfrm>
        </p:spPr>
        <p:txBody>
          <a:bodyPr/>
          <a:lstStyle/>
          <a:p>
            <a:pPr>
              <a:defRPr/>
            </a:pPr>
            <a:r>
              <a:rPr lang="ru-RU"/>
              <a:t>В остальных случаях банкротство возможно только через суд. Причем, когда общая сумма долгов превышает 500 000 рублей и нет возможности платить по ним в срок, вы обязаны объявить о банкротстве. Надо в течение 30 рабочих дней отнести в суд </a:t>
            </a:r>
            <a:r>
              <a:rPr lang="ru-RU" u="sng">
                <a:hlinkClick r:id="rId2" tooltip="https://www.consultant.ru/document/cons_doc_LAW_39331/d127131517da88a7b6115c16a8d95c0fe5e4d9ec/"/>
              </a:rPr>
              <a:t>заявление о банкротстве</a:t>
            </a:r>
            <a:r>
              <a:rPr lang="ru-RU"/>
              <a:t>. </a:t>
            </a:r>
            <a:endParaRPr lang="ru-RU"/>
          </a:p>
          <a:p>
            <a:pPr marL="0" indent="0">
              <a:buNone/>
              <a:defRPr/>
            </a:pPr>
            <a:r>
              <a:rPr lang="ru-RU" b="1"/>
              <a:t>Сколько стоит судебное банкротство</a:t>
            </a:r>
            <a:r>
              <a:rPr lang="ru-RU" b="1"/>
              <a:t>?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ru-RU">
                <a:solidFill>
                  <a:srgbClr val="000000"/>
                </a:solidFill>
                <a:latin typeface="+mj-lt"/>
              </a:rPr>
              <a:t>Госпошлина — 300 рублей. Ее нужно уплатить при подаче заявления в суд</a:t>
            </a:r>
            <a:r>
              <a:rPr lang="ru-RU">
                <a:solidFill>
                  <a:srgbClr val="000000"/>
                </a:solidFill>
                <a:latin typeface="+mj-lt"/>
              </a:rPr>
              <a:t>.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ru-RU">
                <a:solidFill>
                  <a:srgbClr val="000000"/>
                </a:solidFill>
                <a:latin typeface="+mj-lt"/>
              </a:rPr>
              <a:t>Оплата публикаций на сайте Единого федерального реестра сведений о банкротстве (ЕФРСБ) — около 400 рублей за каждую. Необходимо будет разместить информацию о ключевых постановлениях суда: решение об обоснованности вашего заявления, утверждении плана реструктуризации, проведении торгов по продаже имущества и так далее</a:t>
            </a:r>
            <a:r>
              <a:rPr lang="ru-RU">
                <a:solidFill>
                  <a:srgbClr val="000000"/>
                </a:solidFill>
                <a:latin typeface="+mj-lt"/>
              </a:rPr>
              <a:t>.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ru-RU">
                <a:solidFill>
                  <a:srgbClr val="000000"/>
                </a:solidFill>
                <a:latin typeface="+mj-lt"/>
              </a:rPr>
              <a:t>Почтовые расходы для обмена документами с кредиторами и госорганами</a:t>
            </a:r>
            <a:r>
              <a:rPr lang="ru-RU">
                <a:solidFill>
                  <a:srgbClr val="000000"/>
                </a:solidFill>
                <a:latin typeface="+mj-lt"/>
              </a:rPr>
              <a:t>.</a:t>
            </a:r>
            <a:endParaRPr/>
          </a:p>
          <a:p>
            <a:pPr>
              <a:buFont typeface="Wingdings"/>
              <a:buChar char="§"/>
              <a:defRPr/>
            </a:pPr>
            <a:r>
              <a:rPr lang="ru-RU">
                <a:solidFill>
                  <a:srgbClr val="000000"/>
                </a:solidFill>
                <a:latin typeface="+mj-lt"/>
              </a:rPr>
              <a:t>Вознаграждение финансовому управляющему — как минимум 25 000 рублей. Добавьте к этому расходы финансового управляющего. В начале процедуры банкротства эту сумму на расчетный счет суда перечисляет сам должник, если инициатором процедуры стал он сам, а не кредиторы. Если денег нет, можно попросить у суда отсрочку до первого судебного заседания</a:t>
            </a:r>
            <a:r>
              <a:rPr lang="ru-RU">
                <a:solidFill>
                  <a:srgbClr val="000000"/>
                </a:solidFill>
                <a:latin typeface="+mj-lt"/>
              </a:rPr>
              <a:t>.</a:t>
            </a:r>
            <a:endParaRPr/>
          </a:p>
          <a:p>
            <a:pPr>
              <a:buFont typeface="Arial"/>
              <a:buChar char="•"/>
              <a:defRPr/>
            </a:pPr>
            <a:endParaRPr lang="ru-RU">
              <a:solidFill>
                <a:srgbClr val="000000"/>
              </a:solidFill>
              <a:latin typeface="Hauss"/>
            </a:endParaRPr>
          </a:p>
          <a:p>
            <a:pPr>
              <a:buFont typeface="Arial"/>
              <a:buChar char="•"/>
              <a:defRPr/>
            </a:pPr>
            <a:endParaRPr lang="ru-RU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23900" y="0"/>
            <a:ext cx="11468100" cy="6985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Как объявить себя банкротом?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23900" y="812800"/>
            <a:ext cx="11468100" cy="6045200"/>
          </a:xfrm>
        </p:spPr>
        <p:txBody>
          <a:bodyPr/>
          <a:lstStyle/>
          <a:p>
            <a:pPr marL="457200" indent="-457200">
              <a:buAutoNum type="arabicPeriod"/>
              <a:defRPr/>
            </a:pPr>
            <a:r>
              <a:rPr lang="ru-RU"/>
              <a:t>Вы</a:t>
            </a:r>
            <a:r>
              <a:rPr lang="ru-RU"/>
              <a:t> подаете заявление о </a:t>
            </a:r>
            <a:r>
              <a:rPr lang="ru-RU"/>
              <a:t>банкротстве</a:t>
            </a:r>
            <a:r>
              <a:rPr lang="en-US"/>
              <a:t>. </a:t>
            </a:r>
            <a:r>
              <a:rPr lang="ru-RU"/>
              <a:t>Самому </a:t>
            </a:r>
            <a:r>
              <a:rPr lang="ru-RU"/>
              <a:t>признать себя банкротом нельзя, это делает арбитражный суд. Ваша задача — подать туда все нужные документы и доказать свою неплатежеспособность. Подать иск о вашем банкротстве могут и ваши кредиторы или Федеральная налоговая служба</a:t>
            </a:r>
            <a:r>
              <a:rPr lang="ru-RU"/>
              <a:t>.</a:t>
            </a:r>
            <a:endParaRPr lang="en-US"/>
          </a:p>
          <a:p>
            <a:pPr marL="457200" indent="-457200">
              <a:buAutoNum type="arabicPeriod"/>
              <a:defRPr/>
            </a:pPr>
            <a:r>
              <a:rPr lang="ru-RU"/>
              <a:t>Суд </a:t>
            </a:r>
            <a:r>
              <a:rPr lang="ru-RU"/>
              <a:t>рассматривает </a:t>
            </a:r>
            <a:r>
              <a:rPr lang="ru-RU"/>
              <a:t>дело</a:t>
            </a:r>
            <a:r>
              <a:rPr lang="en-US"/>
              <a:t>. </a:t>
            </a:r>
            <a:r>
              <a:rPr lang="ru-RU"/>
              <a:t>После </a:t>
            </a:r>
            <a:r>
              <a:rPr lang="ru-RU"/>
              <a:t>того как суд принял ваше заявление, будет назначено судебное заседание. Ваша цель — доказать, что вы не можете полностью отвечать по своим долговым обязательствам и в ближайшем будущем ситуация не улучшится. Суд изучит ваши доходы и имущество и решит, начинать ли процедуру банкротства или признать ваше заявление необоснованным. На принятие решения у суда может уйти от 15 дней до трех месяцев с момента судебного заседания</a:t>
            </a:r>
            <a:r>
              <a:rPr lang="ru-RU"/>
              <a:t>.</a:t>
            </a:r>
            <a:r>
              <a:rPr lang="en-US"/>
              <a:t> </a:t>
            </a:r>
            <a:endParaRPr/>
          </a:p>
          <a:p>
            <a:pPr marL="457200" indent="-457200">
              <a:buAutoNum type="arabicPeriod"/>
              <a:defRPr/>
            </a:pPr>
            <a:r>
              <a:rPr lang="ru-RU"/>
              <a:t>Процедура банкротства</a:t>
            </a:r>
            <a:r>
              <a:rPr lang="en-US"/>
              <a:t>. </a:t>
            </a:r>
            <a:r>
              <a:rPr lang="ru-RU"/>
              <a:t>Как </a:t>
            </a:r>
            <a:r>
              <a:rPr lang="ru-RU"/>
              <a:t>только суд одобрит ваше заявление, на ваш долг прекращается начисление штрафов и пени, а кредиторы и коллекторы больше не могут у вас ничего требовать. С этого момента все вопросы решает финансовый управляющий от </a:t>
            </a:r>
            <a:r>
              <a:rPr lang="ru-RU" u="sng">
                <a:hlinkClick r:id="rId2" tooltip="https://bankrot.fedresurs.ru/amsros"/>
              </a:rPr>
              <a:t>саморегулируемой организации (СРО) арбитражных управляющих</a:t>
            </a:r>
            <a:r>
              <a:rPr lang="ru-RU" u="sng">
                <a:hlinkClick r:id="rId2" tooltip="https://bankrot.fedresurs.ru/amsros"/>
              </a:rPr>
              <a:t>. 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23900" y="0"/>
            <a:ext cx="11468100" cy="7239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Как может проходить банкротство?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23900" y="723900"/>
            <a:ext cx="11582400" cy="613410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ru-RU" sz="3200" b="1"/>
              <a:t>1. Мировое соглашение</a:t>
            </a:r>
            <a:endParaRPr lang="ru-RU" sz="3200"/>
          </a:p>
          <a:p>
            <a:pPr marL="0" indent="0">
              <a:buNone/>
              <a:defRPr/>
            </a:pPr>
            <a:r>
              <a:rPr lang="ru-RU" sz="3200"/>
              <a:t>Это самый экономичный для вас </a:t>
            </a:r>
            <a:r>
              <a:rPr lang="ru-RU" sz="3200"/>
              <a:t>вариант.</a:t>
            </a:r>
            <a:r>
              <a:rPr lang="en-US" sz="3200"/>
              <a:t> </a:t>
            </a:r>
            <a:r>
              <a:rPr lang="ru-RU" sz="3200"/>
              <a:t>На</a:t>
            </a:r>
            <a:r>
              <a:rPr lang="ru-RU" sz="3200"/>
              <a:t> любом этапе процедуры банкротства у вас есть шанс договориться с кредиторами и подписать мировое соглашение (все действия совершаются через финансового управляющего). Кредиторы могут списать часть вашего долга или согласиться на </a:t>
            </a:r>
            <a:r>
              <a:rPr lang="ru-RU" sz="3200"/>
              <a:t>отсрочку.</a:t>
            </a:r>
            <a:r>
              <a:rPr lang="en-US" sz="3200"/>
              <a:t> </a:t>
            </a:r>
            <a:r>
              <a:rPr lang="ru-RU" sz="3200"/>
              <a:t>После </a:t>
            </a:r>
            <a:r>
              <a:rPr lang="ru-RU" sz="3200"/>
              <a:t>заключения мирового соглашения дело о банкротстве прекращается. Но если вы нарушите условия мирового соглашения, то снова окажетесь в суде, где вас смогут признать банкротом</a:t>
            </a:r>
            <a:r>
              <a:rPr lang="ru-RU" sz="3200"/>
              <a:t>.</a:t>
            </a:r>
            <a:endParaRPr lang="ru-RU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11200" y="0"/>
            <a:ext cx="114808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sz="4000" b="1"/>
              <a:t>2. Реструктуризация долга</a:t>
            </a:r>
            <a:endParaRPr lang="ru-RU" sz="4000"/>
          </a:p>
          <a:p>
            <a:pPr marL="0" indent="0">
              <a:buNone/>
              <a:defRPr/>
            </a:pPr>
            <a:r>
              <a:rPr lang="ru-RU" sz="2400"/>
              <a:t>Не исключено, что финансовому управляющему удастся договориться с вашими кредиторами о новых сроках и условиях погашения долга. Например, растянуть срок выплат и, соответственно, уменьшить размер ежемесячных платежей. </a:t>
            </a:r>
            <a:r>
              <a:rPr lang="ru-RU" sz="2400" b="1"/>
              <a:t>Новый план может быть рассчитан максимум на пять лет.</a:t>
            </a:r>
            <a:endParaRPr/>
          </a:p>
          <a:p>
            <a:pPr marL="0" indent="0">
              <a:buNone/>
              <a:defRPr/>
            </a:pPr>
            <a:r>
              <a:rPr lang="ru-RU" sz="2400"/>
              <a:t>Суд обычно соглашается на этот вариант, только когда у вас есть постоянный доход, нет неснятой или непогашенной судимости за экономические преступления, в последние пять лет вы не банкротились и в течение восьми лет не реструктурировали долги.</a:t>
            </a:r>
            <a:endParaRPr/>
          </a:p>
          <a:p>
            <a:pPr marL="0" indent="0">
              <a:buNone/>
              <a:defRPr/>
            </a:pPr>
            <a:r>
              <a:rPr lang="ru-RU" sz="2400"/>
              <a:t>Самостоятельно распоряжаться имуществом во время реструктуризации вы не вправе. Как и покупать акции или доли в компаниях. Но без средств на существование вы не останетесь. Вам разрешается открыть отдельный счет и тратить с него до 50 000 рублей в месяц. По вашей просьбе суд может увеличить эту сумму. Для того чтобы тратить деньги с других счетов, понадобится письменное согласие финансового управляющего.</a:t>
            </a:r>
            <a:endParaRPr/>
          </a:p>
          <a:p>
            <a:pPr marL="0" indent="0">
              <a:buNone/>
              <a:defRPr/>
            </a:pPr>
            <a:r>
              <a:rPr lang="ru-RU" sz="2400"/>
              <a:t>Если у вас получится выплатить долги по новому плану, суд не признает вас банкротом. Если же нет — начнется сценарий № 3</a:t>
            </a:r>
            <a:r>
              <a:rPr lang="ru-RU" sz="2400"/>
              <a:t>.</a:t>
            </a:r>
            <a:endParaRPr lang="ru-RU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11200" y="0"/>
            <a:ext cx="11480800" cy="685800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ru-RU" sz="3200" b="1"/>
              <a:t>3. Продажа имущества</a:t>
            </a:r>
            <a:endParaRPr lang="ru-RU" sz="3200"/>
          </a:p>
          <a:p>
            <a:pPr marL="0" indent="0">
              <a:buNone/>
              <a:defRPr/>
            </a:pPr>
            <a:r>
              <a:rPr lang="ru-RU"/>
              <a:t>Если мировое соглашение и реструктуризация долга невозможны, суд признает вас банкротом и ваше имущество распродадут, чтобы расплатиться с кредиторами.</a:t>
            </a:r>
            <a:endParaRPr/>
          </a:p>
          <a:p>
            <a:pPr marL="0" indent="0">
              <a:buNone/>
              <a:defRPr/>
            </a:pPr>
            <a:r>
              <a:rPr lang="ru-RU"/>
              <a:t>В течение одного рабочего дня с момента признания банкротом вы должны передать финансовому управляющему все банковские карты. Он изучит, какое имущество у вас есть, что из него можно реализовать и по какой цене. Вместе с кредиторами финансовый управляющий определит сроки продажи. Обычно она занимает до шести месяцев, но суд может увеличить это время.</a:t>
            </a:r>
            <a:endParaRPr/>
          </a:p>
          <a:p>
            <a:pPr marL="0" indent="0">
              <a:buNone/>
              <a:defRPr/>
            </a:pPr>
            <a:r>
              <a:rPr lang="ru-RU"/>
              <a:t>Технику, машину, драгоценности управляющий отправит на торги. Удастся сохранить только предметы первой необходимости. Также можно ходатайствовать, чтобы у вас не забирали вещи, продажа которых не принесет особых денег. Но при условии, что их общая стоимость будет в пределах 10 000 рублей.</a:t>
            </a:r>
            <a:endParaRPr/>
          </a:p>
          <a:p>
            <a:pPr marL="0" indent="0">
              <a:buNone/>
              <a:defRPr/>
            </a:pPr>
            <a:r>
              <a:rPr lang="ru-RU"/>
              <a:t>Вас не могут лишить единственного жилья, если оно не находится в залоге по кредиту.</a:t>
            </a:r>
            <a:endParaRPr/>
          </a:p>
          <a:p>
            <a:pPr marL="0" indent="0">
              <a:buNone/>
              <a:defRPr/>
            </a:pPr>
            <a:r>
              <a:rPr lang="ru-RU"/>
              <a:t>Ипотечная недвижимость по умолчанию уходит на торги. Но когда в залоге у банка ваша единственная квартира или дом, есть шанс их сохранить.</a:t>
            </a:r>
            <a:endParaRPr/>
          </a:p>
          <a:p>
            <a:pPr marL="0" indent="0">
              <a:buNone/>
              <a:defRPr/>
            </a:pPr>
            <a:r>
              <a:rPr lang="ru-RU"/>
              <a:t>Если вы задолжали разным кредиторам и один из них — ипотечный банк, вы вправе заключить с ним отдельное мировое соглашение, даже когда дело уже дошло до продажи имущества. Например, попробуйте договориться об отсрочке платежей до конца процедуры банкротства. Или попросите кого-то из близких временно гасить долг за вас. Тогда жилье не продадут, а вы продолжите выплачивать ипотеку</a:t>
            </a:r>
            <a:r>
              <a:rPr lang="ru-RU"/>
              <a:t>.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11200" y="0"/>
            <a:ext cx="11480800" cy="6985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Как подать в суд заявление о банкротстве?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11200" y="876299"/>
            <a:ext cx="11480800" cy="59817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/>
              <a:t>Напишите заявление в свободной форме. </a:t>
            </a:r>
            <a:r>
              <a:rPr lang="ru-RU" sz="2800"/>
              <a:t>Начните с описания вашего долга: кому и сколько вы задолжали. Перечислите и приложите документы, которые подтверждают ваши задолженности. Назовите причины, из-за которых ваше финансовое состояние ухудшилось и стало нечем платить. После этого напишите о своем имуществе, активах и банковских счетах, в том числе зарубежных</a:t>
            </a:r>
            <a:r>
              <a:rPr lang="ru-RU" sz="2800"/>
              <a:t>. </a:t>
            </a:r>
            <a:endParaRPr lang="en-US" sz="2800"/>
          </a:p>
          <a:p>
            <a:pPr>
              <a:defRPr/>
            </a:pPr>
            <a:r>
              <a:rPr lang="ru-RU" sz="2800" b="1"/>
              <a:t>Заранее выберите и укажите в заявлении саморегулируемую организацию арбитражных управляющих.</a:t>
            </a:r>
            <a:r>
              <a:rPr lang="ru-RU" sz="2800"/>
              <a:t> По возможности именно из этой СРО суд назначит вам финансового управляющего. Он станет посредником между вами, судом и кредиторами, проведет анализ вашего материального положения и будет управлять вашими долгами, деньгами и имуществом</a:t>
            </a:r>
            <a:r>
              <a:rPr lang="ru-RU" sz="2800"/>
              <a:t>. </a:t>
            </a:r>
            <a:endParaRPr lang="ru-RU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11200" y="0"/>
            <a:ext cx="11480800" cy="6985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Как подать в суд заявление о банкротстве?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11200" y="876299"/>
            <a:ext cx="11480800" cy="59817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/>
              <a:t>Если вы согласны, чтобы финансовый управляющий привлекал к своей работе других специалистов (например, для помощи в оценке имущества), то в заявлении </a:t>
            </a:r>
            <a:r>
              <a:rPr lang="ru-RU" sz="2800" b="1"/>
              <a:t>должны указать максимальную сумму, которую готовы потратить на их услуги. </a:t>
            </a:r>
            <a:r>
              <a:rPr lang="ru-RU" sz="2800"/>
              <a:t>Эту сумму надо будет сразу внести на счет суда. Можно будет сделать это и позже, если суд согласится на отсрочку</a:t>
            </a:r>
            <a:r>
              <a:rPr lang="ru-RU" sz="2800"/>
              <a:t>.</a:t>
            </a:r>
            <a:r>
              <a:rPr lang="en-US" sz="2800"/>
              <a:t> </a:t>
            </a:r>
            <a:r>
              <a:rPr lang="ru-RU" sz="2800"/>
              <a:t>К</a:t>
            </a:r>
            <a:r>
              <a:rPr lang="ru-RU" sz="2800"/>
              <a:t> заявлению необходимо приложить квитанцию об оплате госпошлины и опись документов, которые вы подаете в </a:t>
            </a:r>
            <a:r>
              <a:rPr lang="ru-RU" sz="2800"/>
              <a:t>комплекте.</a:t>
            </a:r>
            <a:endParaRPr lang="en-US" sz="2800"/>
          </a:p>
          <a:p>
            <a:pPr>
              <a:defRPr/>
            </a:pPr>
            <a:r>
              <a:rPr lang="ru-RU" sz="2800" b="1"/>
              <a:t>Заявление о банкротстве надо отнести в </a:t>
            </a:r>
            <a:r>
              <a:rPr lang="ru-RU" sz="2800" b="1" u="sng">
                <a:hlinkClick r:id="rId2" tooltip="https://arbitr.ru/"/>
              </a:rPr>
              <a:t>арбитражный суд по месту регистрации</a:t>
            </a:r>
            <a:r>
              <a:rPr lang="ru-RU" sz="2800"/>
              <a:t>. Подать документы можно лично, отправить по почте или через Портал </a:t>
            </a:r>
            <a:r>
              <a:rPr lang="ru-RU" sz="2800"/>
              <a:t>госуслуг</a:t>
            </a:r>
            <a:r>
              <a:rPr lang="ru-RU" sz="2800"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358775"/>
            <a:ext cx="12192000" cy="5803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98500" y="0"/>
            <a:ext cx="11493500" cy="10795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 b="1"/>
              <a:t>Меня признали банкротом. Когда мои счета разблокируют?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98500" y="1079500"/>
            <a:ext cx="11493500" cy="57785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3200" b="1"/>
              <a:t>В течение 10 дней </a:t>
            </a:r>
            <a:r>
              <a:rPr lang="ru-RU" sz="3200"/>
              <a:t>после завершения процедуры банкротства финансовый управляющий разместит уведомление в Едином федеральном реестре сведений о банкротстве</a:t>
            </a:r>
            <a:r>
              <a:rPr lang="ru-RU" sz="3200"/>
              <a:t>.</a:t>
            </a:r>
            <a:r>
              <a:rPr lang="en-US" sz="3200"/>
              <a:t> </a:t>
            </a:r>
            <a:endParaRPr/>
          </a:p>
          <a:p>
            <a:pPr marL="0" indent="0">
              <a:buNone/>
              <a:defRPr/>
            </a:pPr>
            <a:r>
              <a:rPr lang="ru-RU" sz="3200" b="1"/>
              <a:t>Затем </a:t>
            </a:r>
            <a:r>
              <a:rPr lang="ru-RU" sz="3200" b="1"/>
              <a:t>в течение 5 рабочих дней </a:t>
            </a:r>
            <a:r>
              <a:rPr lang="ru-RU" sz="3200"/>
              <a:t>банки должны изучить эту информацию и разморозить ваши счета. Чтобы ускорить процесс, вы можете обратиться в банк напрямую и передать все документы, которые подтверждают окончание процедуры банкротства</a:t>
            </a:r>
            <a:r>
              <a:rPr lang="ru-RU" sz="3200"/>
              <a:t>.</a:t>
            </a:r>
            <a:endParaRPr lang="ru-RU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11200" y="0"/>
            <a:ext cx="11480800" cy="812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Негативные последствия банкротства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11200" y="812800"/>
            <a:ext cx="11480800" cy="60452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b="1">
                <a:solidFill>
                  <a:srgbClr val="7030A0"/>
                </a:solidFill>
              </a:rPr>
              <a:t>Запрет </a:t>
            </a:r>
            <a:r>
              <a:rPr lang="ru-RU" b="1">
                <a:solidFill>
                  <a:srgbClr val="7030A0"/>
                </a:solidFill>
              </a:rPr>
              <a:t>на занятие определенными видами деятельности</a:t>
            </a:r>
            <a:r>
              <a:rPr lang="ru-RU" b="1"/>
              <a:t>: </a:t>
            </a:r>
            <a:r>
              <a:rPr lang="ru-RU"/>
              <a:t>Лицо, признанное банкротом, лишается права заниматься предпринимательской деятельностью и вести бизнес самостоятельно в течение определенного </a:t>
            </a:r>
            <a:r>
              <a:rPr lang="ru-RU"/>
              <a:t>времени.</a:t>
            </a:r>
            <a:endParaRPr lang="ru-RU"/>
          </a:p>
          <a:p>
            <a:pPr>
              <a:defRPr/>
            </a:pPr>
            <a:r>
              <a:rPr lang="ru-RU">
                <a:solidFill>
                  <a:srgbClr val="7030A0"/>
                </a:solidFill>
              </a:rPr>
              <a:t>Невозможность занимать управленческие позиции</a:t>
            </a:r>
            <a:r>
              <a:rPr lang="ru-RU"/>
              <a:t>: Закон запрещает лицу, признанному банкротом, занимать руководящие должности в организациях на протяжении трех лет после вынесения соответствующего решения суда.</a:t>
            </a:r>
            <a:endParaRPr/>
          </a:p>
          <a:p>
            <a:pPr>
              <a:defRPr/>
            </a:pPr>
            <a:r>
              <a:rPr lang="ru-RU">
                <a:solidFill>
                  <a:srgbClr val="7030A0"/>
                </a:solidFill>
              </a:rPr>
              <a:t>Ограничения на приобретение недвижимости и крупных покупок: </a:t>
            </a:r>
            <a:r>
              <a:rPr lang="ru-RU"/>
              <a:t>Будущие крупные покупки и сделки могут потребовать согласия финансового </a:t>
            </a:r>
            <a:r>
              <a:rPr lang="ru-RU"/>
              <a:t>управляющего во время процедуры банкротства.</a:t>
            </a:r>
            <a:endParaRPr/>
          </a:p>
          <a:p>
            <a:pPr>
              <a:defRPr/>
            </a:pPr>
            <a:r>
              <a:rPr lang="ru-RU">
                <a:solidFill>
                  <a:srgbClr val="7030A0"/>
                </a:solidFill>
              </a:rPr>
              <a:t>Необходимость </a:t>
            </a:r>
            <a:r>
              <a:rPr lang="ru-RU">
                <a:solidFill>
                  <a:srgbClr val="7030A0"/>
                </a:solidFill>
              </a:rPr>
              <a:t>уведомления кредитных учреждений:</a:t>
            </a:r>
            <a:r>
              <a:rPr lang="ru-RU"/>
              <a:t> При обращении за новым кредитом или ипотекой вы обязаны будете раскрывать факт наличия статуса банкрота, что снижает шансы на одобрение новой кредитной линии.</a:t>
            </a:r>
            <a:endParaRPr/>
          </a:p>
          <a:p>
            <a:pPr>
              <a:defRPr/>
            </a:pPr>
            <a:r>
              <a:rPr lang="ru-RU">
                <a:solidFill>
                  <a:srgbClr val="7030A0"/>
                </a:solidFill>
              </a:rPr>
              <a:t>Ухудшение кредитного рейтинга:</a:t>
            </a:r>
            <a:r>
              <a:rPr lang="ru-RU"/>
              <a:t> Факт банкротства фиксируется в бюро кредитных историй и отрицательно влияет на ваш кредитный рейтинг, затрудняя доступ к кредитам и займам в будущем.</a:t>
            </a:r>
            <a:endParaRPr/>
          </a:p>
          <a:p>
            <a:pPr>
              <a:defRPr/>
            </a:pPr>
            <a:r>
              <a:rPr lang="ru-RU">
                <a:solidFill>
                  <a:srgbClr val="7030A0"/>
                </a:solidFill>
              </a:rPr>
              <a:t>Потеря части имущества: </a:t>
            </a:r>
            <a:r>
              <a:rPr lang="ru-RU"/>
              <a:t>Если процедура банкротства сопровождается реализацией имущества, вы рискуете потерять значительную часть активов, которые могли бы стать залоговым обеспечением при попытке вновь оформить кредит.</a:t>
            </a:r>
            <a:endParaRPr/>
          </a:p>
          <a:p>
            <a:pPr>
              <a:defRPr/>
            </a:pPr>
            <a:r>
              <a:rPr lang="ru-RU">
                <a:solidFill>
                  <a:srgbClr val="7030A0"/>
                </a:solidFill>
              </a:rPr>
              <a:t>Зависимость от внешнего контроля: </a:t>
            </a:r>
            <a:r>
              <a:rPr lang="ru-RU"/>
              <a:t>В процессе банкротства вашими делами управляет внешний специалист — финансовый </a:t>
            </a:r>
            <a:r>
              <a:rPr lang="ru-RU"/>
              <a:t>управляющий</a:t>
            </a:r>
            <a:r>
              <a:rPr lang="ru-RU"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36600" y="685800"/>
            <a:ext cx="11455400" cy="54563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85800" y="0"/>
            <a:ext cx="11506200" cy="12954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3600" b="1"/>
              <a:t>Ответственность за фиктивное и преднамеренное  банкротство</a:t>
            </a:r>
            <a:endParaRPr lang="ru-RU" sz="3600" b="1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85800" y="1206500"/>
            <a:ext cx="11417300" cy="5651500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ru-RU" sz="3000"/>
              <a:t>Уголовная ответственность за </a:t>
            </a:r>
            <a:r>
              <a:rPr lang="ru-RU" sz="3000" b="1"/>
              <a:t>преднамеренное банкротство</a:t>
            </a:r>
            <a:r>
              <a:rPr lang="ru-RU" sz="3000"/>
              <a:t>, в случае когда эти действия повлекли причинение крупного ущерба (более 2 млн. 250 тыс. рублей) предусмотрена статьей 196 УК РФ, санкция которой предусматривает наказание от штрафа в размере от 200 </a:t>
            </a:r>
            <a:r>
              <a:rPr lang="ru-RU" sz="3000"/>
              <a:t>тыс. </a:t>
            </a:r>
            <a:r>
              <a:rPr lang="ru-RU" sz="3000"/>
              <a:t>рублей и вплоть до лишения свободы на срок до 6 лет.</a:t>
            </a:r>
            <a:endParaRPr/>
          </a:p>
          <a:p>
            <a:pPr>
              <a:defRPr/>
            </a:pPr>
            <a:r>
              <a:rPr lang="ru-RU" sz="3000" b="1"/>
              <a:t>За фиктивное банкротство</a:t>
            </a:r>
            <a:r>
              <a:rPr lang="ru-RU" sz="3000"/>
              <a:t>, в случае, если оно повлекло причинение крупного ущерба (более 2 млн. 250 тыс. рублей), уголовная ответственность предусмотрена статьей 197 УК РФ. Санкция статьи предусматривает наказание от штрафа в размере от 100 тыс. рублей до лишения свободы на срок до 6 лет.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 sz="2800">
                <a:solidFill>
                  <a:srgbClr val="7030A0"/>
                </a:solidFill>
              </a:rPr>
              <a:t>Ключевое различие преднамеренного банкротства от фиктивного состоит в том, что в случае, когда банкротство носит преднамеренный характер, неспособность гражданина удовлетворить действия кредитора становится следствием его сознательных действий, при этом фиктивное банкротство предполагает заведомо ложное объявление статуса банкрота с целью избежать исполнения обязательств и сохранить капитал.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23900" y="0"/>
            <a:ext cx="11468100" cy="635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Домашнее задание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23900" y="635000"/>
            <a:ext cx="11557000" cy="6223000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  <a:defRPr/>
            </a:pPr>
            <a:r>
              <a:rPr lang="ru-RU" sz="2400" b="1">
                <a:latin typeface="YS Geo"/>
              </a:rPr>
              <a:t>Условия признания гражданина банкротом</a:t>
            </a:r>
            <a:r>
              <a:rPr lang="ru-RU" sz="2400">
                <a:latin typeface="YS Geo"/>
              </a:rPr>
              <a:t>: перечислите и обоснуйте все необходимые условия, при которых физическое лицо может быть признано банкротом. Укажите, какие документы и доказательства требуются для подтверждения каждого из этих условий.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ru-RU" sz="2400" b="1">
                <a:latin typeface="YS Geo"/>
              </a:rPr>
              <a:t>Процедура банкротства</a:t>
            </a:r>
            <a:r>
              <a:rPr lang="ru-RU" sz="2400">
                <a:latin typeface="YS Geo"/>
              </a:rPr>
              <a:t>: в чём заключаются основные различия между стандартной и упрощённой процедурами банкротства физических лиц? При каких условиях возможно применение каждой из них?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ru-RU" sz="2400" b="1">
                <a:latin typeface="YS Geo"/>
              </a:rPr>
              <a:t>Роль финансового управляющего</a:t>
            </a:r>
            <a:r>
              <a:rPr lang="ru-RU" sz="2400">
                <a:latin typeface="YS Geo"/>
              </a:rPr>
              <a:t>: опишите функции и обязанности финансового управляющего в процессе банкротства физического лица. Какие права и полномочия он имеет?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ru-RU" sz="2400" b="1">
                <a:latin typeface="YS Geo"/>
              </a:rPr>
              <a:t>Последствия банкротства</a:t>
            </a:r>
            <a:r>
              <a:rPr lang="ru-RU" sz="2400">
                <a:latin typeface="YS Geo"/>
              </a:rPr>
              <a:t>: какие ограничения накладываются на гражданина после признания его банкротом? Укажите временные рамки этих ограничений и их влияние на различные сферы жизни должника.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ru-RU" sz="2400" b="1">
                <a:latin typeface="YS Geo"/>
              </a:rPr>
              <a:t>Имущество и долги</a:t>
            </a:r>
            <a:r>
              <a:rPr lang="ru-RU" sz="2400">
                <a:latin typeface="YS Geo"/>
              </a:rPr>
              <a:t>: как происходит оценка и реализация имущества должника в процессе банкротства? Какие виды имущества защищены от взыскания согласно законодательству?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23900" y="0"/>
            <a:ext cx="11468100" cy="635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Домашнее задание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23900" y="635000"/>
            <a:ext cx="11557000" cy="62230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  <a:defRPr/>
            </a:pPr>
            <a:r>
              <a:rPr lang="ru-RU" sz="2400" b="1">
                <a:latin typeface="YS Geo"/>
              </a:rPr>
              <a:t>Права кредиторов</a:t>
            </a:r>
            <a:r>
              <a:rPr lang="ru-RU" sz="2400">
                <a:latin typeface="YS Geo"/>
              </a:rPr>
              <a:t>: какие права имеют кредиторы в процессе банкротства физического лица? Опишите механизмы защиты их интересов.</a:t>
            </a:r>
            <a:endParaRPr/>
          </a:p>
          <a:p>
            <a:pPr>
              <a:buFont typeface="+mj-lt"/>
              <a:buAutoNum type="arabicPeriod" startAt="6"/>
              <a:defRPr/>
            </a:pPr>
            <a:r>
              <a:rPr lang="ru-RU" sz="2400" b="1">
                <a:latin typeface="YS Geo"/>
              </a:rPr>
              <a:t>Влияние на родственников</a:t>
            </a:r>
            <a:r>
              <a:rPr lang="ru-RU" sz="2400">
                <a:latin typeface="YS Geo"/>
              </a:rPr>
              <a:t>: как процедура банкротства физического лица влияет на его родственников? Какие виды имущества могут быть затронуты при взыскании долгов?</a:t>
            </a:r>
            <a:endParaRPr/>
          </a:p>
          <a:p>
            <a:pPr>
              <a:buFont typeface="+mj-lt"/>
              <a:buAutoNum type="arabicPeriod" startAt="6"/>
              <a:defRPr/>
            </a:pPr>
            <a:r>
              <a:rPr lang="ru-RU" sz="2400" b="1">
                <a:latin typeface="YS Geo"/>
              </a:rPr>
              <a:t>Повторное банкротство</a:t>
            </a:r>
            <a:r>
              <a:rPr lang="ru-RU" sz="2400">
                <a:latin typeface="YS Geo"/>
              </a:rPr>
              <a:t>: при каких условиях возможно повторное обращение гражданина с заявлением о банкротстве? Какие правовые последствия это влечёт?</a:t>
            </a:r>
            <a:endParaRPr/>
          </a:p>
          <a:p>
            <a:pPr>
              <a:buFont typeface="+mj-lt"/>
              <a:buAutoNum type="arabicPeriod" startAt="6"/>
              <a:defRPr/>
            </a:pPr>
            <a:r>
              <a:rPr lang="ru-RU" sz="2400" b="1">
                <a:latin typeface="YS Geo"/>
              </a:rPr>
              <a:t>Кредитная история</a:t>
            </a:r>
            <a:r>
              <a:rPr lang="ru-RU" sz="2400">
                <a:latin typeface="YS Geo"/>
              </a:rPr>
              <a:t>: как банкротство влияет на кредитную историю должника? Возможно ли получение новых кредитов после завершения процедуры банкротства?</a:t>
            </a:r>
            <a:endParaRPr/>
          </a:p>
          <a:p>
            <a:pPr>
              <a:buFont typeface="+mj-lt"/>
              <a:buAutoNum type="arabicPeriod" startAt="6"/>
              <a:defRPr/>
            </a:pPr>
            <a:r>
              <a:rPr lang="ru-RU" sz="2400" b="1">
                <a:latin typeface="YS Geo"/>
              </a:rPr>
              <a:t>Правовые аспекты</a:t>
            </a:r>
            <a:r>
              <a:rPr lang="ru-RU" sz="2400">
                <a:latin typeface="YS Geo"/>
              </a:rPr>
              <a:t>: какие законодательные акты регулируют процедуру банкротства физических лиц в России? Опишите основные положения и изменения, внесённые в законодательство за последние годы.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64839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899" y="19049"/>
            <a:ext cx="11469074" cy="65722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/>
              <a:t>Домашнее задание</a:t>
            </a:r>
            <a:endParaRPr/>
          </a:p>
        </p:txBody>
      </p:sp>
      <p:sp>
        <p:nvSpPr>
          <p:cNvPr id="155716783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23899" y="723899"/>
            <a:ext cx="11469074" cy="5095874"/>
          </a:xfrm>
        </p:spPr>
        <p:txBody>
          <a:bodyPr/>
          <a:lstStyle/>
          <a:p>
            <a:pPr marL="0" indent="0">
              <a:buFont typeface="Franklin Gothic Book"/>
              <a:buNone/>
              <a:defRPr/>
            </a:pPr>
            <a:r>
              <a:rPr/>
              <a:t>Составить кроссворд по теме “ Банковская система. Кредиты и займы”. Должно быть не менее 10 слов по вертикали и не менее 10 слов по горизонтали.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98500" y="0"/>
            <a:ext cx="11493500" cy="774700"/>
          </a:xfrm>
        </p:spPr>
        <p:txBody>
          <a:bodyPr/>
          <a:lstStyle/>
          <a:p>
            <a:pPr>
              <a:defRPr/>
            </a:pPr>
            <a:r>
              <a:rPr lang="ru-RU"/>
              <a:t>Дополнительные материалы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98500" y="774700"/>
            <a:ext cx="11493500" cy="4889500"/>
          </a:xfrm>
        </p:spPr>
        <p:txBody>
          <a:bodyPr/>
          <a:lstStyle/>
          <a:p>
            <a:pPr>
              <a:defRPr/>
            </a:pPr>
            <a:r>
              <a:rPr lang="ru-RU" u="sng">
                <a:hlinkClick r:id="rId2" tooltip="https://www.gosuslugi.ru/life/details/bankruptcy_of_individuals"/>
              </a:rPr>
              <a:t>Банкротство физических лиц</a:t>
            </a:r>
            <a:endParaRPr lang="ru-RU"/>
          </a:p>
          <a:p>
            <a:pPr>
              <a:defRPr/>
            </a:pPr>
            <a:r>
              <a:rPr lang="ru-RU" u="sng">
                <a:hlinkClick r:id="rId3" tooltip="https://www.gosuslugi.ru/life/details/relatives_loans?categoryCode=financy_nalogi_shtrafi"/>
              </a:rPr>
              <a:t>Есть ли </a:t>
            </a:r>
            <a:r>
              <a:rPr lang="ru-RU" u="sng">
                <a:hlinkClick r:id="rId3" tooltip="https://www.gosuslugi.ru/life/details/relatives_loans?categoryCode=financy_nalogi_shtrafi"/>
              </a:rPr>
              <a:t>ответственность </a:t>
            </a:r>
            <a:r>
              <a:rPr lang="ru-RU" u="sng">
                <a:hlinkClick r:id="rId3" tooltip="https://www.gosuslugi.ru/life/details/relatives_loans?categoryCode=financy_nalogi_shtrafi"/>
              </a:rPr>
              <a:t>за долги по кредитам </a:t>
            </a:r>
            <a:r>
              <a:rPr lang="ru-RU" u="sng">
                <a:hlinkClick r:id="rId3" tooltip="https://www.gosuslugi.ru/life/details/relatives_loans?categoryCode=financy_nalogi_shtrafi"/>
              </a:rPr>
              <a:t>родственников</a:t>
            </a:r>
            <a:endParaRPr lang="ru-RU"/>
          </a:p>
          <a:p>
            <a:pPr>
              <a:defRPr/>
            </a:pPr>
            <a:r>
              <a:rPr lang="ru-RU" u="sng">
                <a:hlinkClick r:id="rId4" tooltip="https://fincult.info/article/pochemu-dolgi-po-kreditam-i-zaymam-ne-ischeznut-sami-soboy/"/>
              </a:rPr>
              <a:t>Почему долги по кредитам и </a:t>
            </a:r>
            <a:r>
              <a:rPr lang="ru-RU" u="sng">
                <a:hlinkClick r:id="rId4" tooltip="https://fincult.info/article/pochemu-dolgi-po-kreditam-i-zaymam-ne-ischeznut-sami-soboy/"/>
              </a:rPr>
              <a:t>займам </a:t>
            </a:r>
            <a:r>
              <a:rPr lang="ru-RU" u="sng">
                <a:hlinkClick r:id="rId4" tooltip="https://fincult.info/article/pochemu-dolgi-po-kreditam-i-zaymam-ne-ischeznut-sami-soboy/"/>
              </a:rPr>
              <a:t>не исчезнут сами </a:t>
            </a:r>
            <a:r>
              <a:rPr lang="ru-RU" u="sng">
                <a:hlinkClick r:id="rId4" tooltip="https://fincult.info/article/pochemu-dolgi-po-kreditam-i-zaymam-ne-ischeznut-sami-soboy/"/>
              </a:rPr>
              <a:t>собой</a:t>
            </a:r>
            <a:endParaRPr lang="ru-RU"/>
          </a:p>
          <a:p>
            <a:pPr>
              <a:defRPr/>
            </a:pPr>
            <a:r>
              <a:rPr lang="ru-RU" u="sng">
                <a:hlinkClick r:id="rId5" tooltip="https://fincult.info/article/v-kakikh-sluchayakh-mozhno-poteryat-zhile-iz-za-kredita/"/>
              </a:rPr>
              <a:t>В каких случаях </a:t>
            </a:r>
            <a:r>
              <a:rPr lang="ru-RU" u="sng">
                <a:hlinkClick r:id="rId5" tooltip="https://fincult.info/article/v-kakikh-sluchayakh-mozhno-poteryat-zhile-iz-za-kredita/"/>
              </a:rPr>
              <a:t>можно </a:t>
            </a:r>
            <a:r>
              <a:rPr lang="ru-RU" u="sng">
                <a:hlinkClick r:id="rId5" tooltip="https://fincult.info/article/v-kakikh-sluchayakh-mozhno-poteryat-zhile-iz-za-kredita/"/>
              </a:rPr>
              <a:t>потерять жилье из-за </a:t>
            </a:r>
            <a:r>
              <a:rPr lang="ru-RU" u="sng">
                <a:hlinkClick r:id="rId5" tooltip="https://fincult.info/article/v-kakikh-sluchayakh-mozhno-poteryat-zhile-iz-za-kredita/"/>
              </a:rPr>
              <a:t>кредита</a:t>
            </a:r>
            <a:endParaRPr lang="ru-RU"/>
          </a:p>
          <a:p>
            <a:pPr>
              <a:defRPr/>
            </a:pPr>
            <a:r>
              <a:rPr lang="ru-RU" u="sng">
                <a:hlinkClick r:id="rId6" tooltip="https://fincult.info/article/kak-poluchit-ipotechnye-kanikuly/"/>
              </a:rPr>
              <a:t>Как получить ипотечные каникулы</a:t>
            </a:r>
            <a:endParaRPr lang="ru-RU"/>
          </a:p>
          <a:p>
            <a:pPr>
              <a:defRPr/>
            </a:pPr>
            <a:r>
              <a:rPr lang="ru-RU" u="sng">
                <a:hlinkClick r:id="rId7" tooltip="https://fincult.info/article/kak-vzyat-kredit-i-ne-uvyaznut-v-dolgakh/"/>
              </a:rPr>
              <a:t>Как взять кредит и не увязнуть в </a:t>
            </a:r>
            <a:r>
              <a:rPr lang="ru-RU" u="sng">
                <a:hlinkClick r:id="rId7" tooltip="https://fincult.info/article/kak-vzyat-kredit-i-ne-uvyaznut-v-dolgakh/"/>
              </a:rPr>
              <a:t>долгах</a:t>
            </a:r>
            <a:endParaRPr lang="ru-RU"/>
          </a:p>
          <a:p>
            <a:pPr>
              <a:defRPr/>
            </a:pPr>
            <a:r>
              <a:rPr lang="ru-RU" u="sng">
                <a:hlinkClick r:id="rId8" tooltip="https://fpa.ru/info/blokirovka-kart-i-schetov-v-procedure-bankrotstva/"/>
              </a:rPr>
              <a:t>Как происходит блокировка счетов при банкротстве физлица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Arial"/>
        <a:cs typeface="Arial"/>
      </a:majorFont>
      <a:minorFont>
        <a:latin typeface="Franklin Gothic Book"/>
        <a:ea typeface="Arial"/>
        <a:cs typeface="Arial"/>
      </a:minorFont>
    </a:fontScheme>
    <a:fmtScheme name="Crop">
      <a:fillStyleLst>
        <a:solidFill>
          <a:schemeClr val="phClr"/>
        </a:solidFill>
        <a:gradFill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0</TotalTime>
  <Words>0</Words>
  <Application>R7-Office/2025.3.1.923</Application>
  <DocSecurity>0</DocSecurity>
  <PresentationFormat>Широкоэкранный</PresentationFormat>
  <Paragraphs>0</Paragraphs>
  <Slides>23</Slides>
  <Notes>23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Банкротство физических лиц</dc:title>
  <dc:subject/>
  <dc:creator>Марина Леденцова</dc:creator>
  <cp:keywords/>
  <dc:description/>
  <dc:identifier/>
  <dc:language/>
  <cp:lastModifiedBy>Марина Леденцова</cp:lastModifiedBy>
  <cp:revision>13</cp:revision>
  <dcterms:created xsi:type="dcterms:W3CDTF">2025-10-20T12:15:06Z</dcterms:created>
  <dcterms:modified xsi:type="dcterms:W3CDTF">2025-10-22T18:21:50Z</dcterms:modified>
  <cp:category/>
  <cp:contentStatus/>
  <cp:version/>
</cp:coreProperties>
</file>